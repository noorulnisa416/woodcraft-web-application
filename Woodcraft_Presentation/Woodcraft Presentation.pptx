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5"/>
  </p:notesMasterIdLst>
  <p:sldIdLst>
    <p:sldId id="270" r:id="rId3"/>
    <p:sldId id="256" r:id="rId4"/>
    <p:sldId id="257" r:id="rId6"/>
    <p:sldId id="273" r:id="rId7"/>
    <p:sldId id="278" r:id="rId8"/>
    <p:sldId id="291" r:id="rId9"/>
    <p:sldId id="289" r:id="rId10"/>
    <p:sldId id="268" r:id="rId11"/>
    <p:sldId id="265" r:id="rId12"/>
    <p:sldId id="272" r:id="rId13"/>
    <p:sldId id="274" r:id="rId14"/>
    <p:sldId id="261" r:id="rId15"/>
    <p:sldId id="260" r:id="rId16"/>
    <p:sldId id="293" r:id="rId17"/>
    <p:sldId id="297" r:id="rId18"/>
    <p:sldId id="296" r:id="rId19"/>
    <p:sldId id="259" r:id="rId20"/>
    <p:sldId id="275" r:id="rId21"/>
    <p:sldId id="298" r:id="rId22"/>
    <p:sldId id="277" r:id="rId23"/>
    <p:sldId id="292" r:id="rId24"/>
    <p:sldId id="279" r:id="rId25"/>
    <p:sldId id="276" r:id="rId26"/>
    <p:sldId id="281" r:id="rId27"/>
    <p:sldId id="282" r:id="rId28"/>
    <p:sldId id="283" r:id="rId29"/>
    <p:sldId id="284" r:id="rId30"/>
    <p:sldId id="285" r:id="rId31"/>
    <p:sldId id="280" r:id="rId32"/>
    <p:sldId id="288" r:id="rId33"/>
    <p:sldId id="286" r:id="rId34"/>
    <p:sldId id="287" r:id="rId35"/>
    <p:sldId id="267" r:id="rId36"/>
    <p:sldId id="266" r:id="rId37"/>
    <p:sldId id="299" r:id="rId38"/>
    <p:sldId id="300" r:id="rId39"/>
    <p:sldId id="301" r:id="rId40"/>
    <p:sldId id="303" r:id="rId41"/>
    <p:sldId id="302" r:id="rId42"/>
    <p:sldId id="304" r:id="rId43"/>
    <p:sldId id="305" r:id="rId44"/>
    <p:sldId id="306" r:id="rId45"/>
    <p:sldId id="307" r:id="rId46"/>
    <p:sldId id="308" r:id="rId47"/>
    <p:sldId id="309" r:id="rId48"/>
    <p:sldId id="262" r:id="rId49"/>
    <p:sldId id="310" r:id="rId50"/>
    <p:sldId id="311" r:id="rId51"/>
  </p:sldIdLst>
  <p:sldSz cx="12192000" cy="6858000"/>
  <p:notesSz cx="6858000" cy="9144000"/>
  <p:embeddedFontLst>
    <p:embeddedFont>
      <p:font typeface="Calibri" panose="020F0502020204030204"/>
      <p:regular r:id="rId55"/>
      <p:bold r:id="rId56"/>
      <p:italic r:id="rId57"/>
      <p:boldItalic r:id="rId58"/>
    </p:embeddedFont>
    <p:embeddedFont>
      <p:font typeface="Azeret Mono"/>
      <p:regular r:id="rId59"/>
      <p:bold r:id="rId60"/>
      <p:italic r:id="rId61"/>
      <p:boldItalic r:id="rId62"/>
    </p:embeddedFont>
    <p:embeddedFont>
      <p:font typeface="Playfair Display"/>
      <p:regular r:id="rId63"/>
      <p:bold r:id="rId64"/>
      <p:italic r:id="rId65"/>
      <p:boldItalic r:id="rId66"/>
    </p:embeddedFont>
    <p:embeddedFont>
      <p:font typeface="Lato" panose="020F0502020204030203"/>
      <p:regular r:id="rId67"/>
      <p:bold r:id="rId68"/>
      <p:italic r:id="rId69"/>
      <p:boldItalic r:id="rId7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000000"/>
          </p15:clr>
        </p15:guide>
        <p15:guide id="2" pos="288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0" Type="http://schemas.openxmlformats.org/officeDocument/2006/relationships/font" Target="fonts/font16.fntdata"/><Relationship Id="rId7" Type="http://schemas.openxmlformats.org/officeDocument/2006/relationships/slide" Target="slides/slide4.xml"/><Relationship Id="rId69" Type="http://schemas.openxmlformats.org/officeDocument/2006/relationships/font" Target="fonts/font15.fntdata"/><Relationship Id="rId68" Type="http://schemas.openxmlformats.org/officeDocument/2006/relationships/font" Target="fonts/font14.fntdata"/><Relationship Id="rId67" Type="http://schemas.openxmlformats.org/officeDocument/2006/relationships/font" Target="fonts/font13.fntdata"/><Relationship Id="rId66" Type="http://schemas.openxmlformats.org/officeDocument/2006/relationships/font" Target="fonts/font12.fntdata"/><Relationship Id="rId65" Type="http://schemas.openxmlformats.org/officeDocument/2006/relationships/font" Target="fonts/font11.fntdata"/><Relationship Id="rId64" Type="http://schemas.openxmlformats.org/officeDocument/2006/relationships/font" Target="fonts/font10.fntdata"/><Relationship Id="rId63" Type="http://schemas.openxmlformats.org/officeDocument/2006/relationships/font" Target="fonts/font9.fntdata"/><Relationship Id="rId62" Type="http://schemas.openxmlformats.org/officeDocument/2006/relationships/font" Target="fonts/font8.fntdata"/><Relationship Id="rId61" Type="http://schemas.openxmlformats.org/officeDocument/2006/relationships/font" Target="fonts/font7.fntdata"/><Relationship Id="rId60" Type="http://schemas.openxmlformats.org/officeDocument/2006/relationships/font" Target="fonts/font6.fntdata"/><Relationship Id="rId6" Type="http://schemas.openxmlformats.org/officeDocument/2006/relationships/slide" Target="slides/slide3.xml"/><Relationship Id="rId59" Type="http://schemas.openxmlformats.org/officeDocument/2006/relationships/font" Target="fonts/font5.fntdata"/><Relationship Id="rId58" Type="http://schemas.openxmlformats.org/officeDocument/2006/relationships/font" Target="fonts/font4.fntdata"/><Relationship Id="rId57" Type="http://schemas.openxmlformats.org/officeDocument/2006/relationships/font" Target="fonts/font3.fntdata"/><Relationship Id="rId56" Type="http://schemas.openxmlformats.org/officeDocument/2006/relationships/font" Target="fonts/font2.fntdata"/><Relationship Id="rId55" Type="http://schemas.openxmlformats.org/officeDocument/2006/relationships/font" Target="fonts/font1.fntdata"/><Relationship Id="rId54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2" name="Google Shape;92;p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2" name="Google Shape;92;p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2" name="Google Shape;242;p1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7" name="Google Shape;207;p10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2" name="Google Shape;92;p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2" name="Google Shape;242;p1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9" name="Google Shape;149;p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2" name="Google Shape;132;p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9" name="Google Shape;109;p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3" name="Google Shape;113;p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2" name="Google Shape;242;p1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2" name="Google Shape;242;p1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2" name="Google Shape;92;p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2" name="Google Shape;242;p1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2" name="Google Shape;242;p1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2" name="Google Shape;242;p1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2" name="Google Shape;242;p1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2" name="Google Shape;242;p1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2" name="Google Shape;242;p1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2" name="Google Shape;242;p1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2" name="Google Shape;242;p1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2" name="Google Shape;242;p1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2" name="Google Shape;242;p1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2" name="Google Shape;242;p1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4" name="Google Shape;234;p1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7" name="Google Shape;227;p1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7" name="Google Shape;227;p1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7" name="Google Shape;227;p1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7" name="Google Shape;227;p1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2" name="Google Shape;242;p1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7" name="Google Shape;227;p1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7" name="Google Shape;227;p1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7" name="Google Shape;227;p1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7" name="Google Shape;227;p1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7" name="Google Shape;227;p1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7" name="Google Shape;227;p1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7" name="Google Shape;227;p1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7" name="Google Shape;157;p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7"/>
          <p:cNvSpPr txBox="1"/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7"/>
          <p:cNvSpPr txBox="1"/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/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jpe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png"/><Relationship Id="rId8" Type="http://schemas.openxmlformats.org/officeDocument/2006/relationships/image" Target="../media/image17.png"/><Relationship Id="rId7" Type="http://schemas.openxmlformats.org/officeDocument/2006/relationships/image" Target="../media/image16.png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24.png"/><Relationship Id="rId7" Type="http://schemas.openxmlformats.org/officeDocument/2006/relationships/image" Target="../media/image23.png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2.pn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8.png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9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34.jpeg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41.png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2.png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1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52.png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61.png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image" Target="../media/image55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2.png"/><Relationship Id="rId1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3.png"/><Relationship Id="rId1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4.png"/><Relationship Id="rId1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5.png"/><Relationship Id="rId1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6.png"/><Relationship Id="rId1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7.png"/><Relationship Id="rId1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8.png"/><Relationship Id="rId1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9.png"/><Relationship Id="rId1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0.png"/><Relationship Id="rId1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0.png"/><Relationship Id="rId1" Type="http://schemas.openxmlformats.org/officeDocument/2006/relationships/image" Target="../media/image4.pn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1.jpeg"/><Relationship Id="rId1" Type="http://schemas.openxmlformats.org/officeDocument/2006/relationships/image" Target="../media/image4.png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2.png"/><Relationship Id="rId1" Type="http://schemas.openxmlformats.org/officeDocument/2006/relationships/image" Target="../media/image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4.png"/><Relationship Id="rId1" Type="http://schemas.openxmlformats.org/officeDocument/2006/relationships/image" Target="../media/image73.png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5.png"/><Relationship Id="rId1" Type="http://schemas.openxmlformats.org/officeDocument/2006/relationships/image" Target="../media/image73.png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6.png"/><Relationship Id="rId1" Type="http://schemas.openxmlformats.org/officeDocument/2006/relationships/image" Target="../media/image73.png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7.png"/><Relationship Id="rId1" Type="http://schemas.openxmlformats.org/officeDocument/2006/relationships/image" Target="../media/image73.png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8.png"/><Relationship Id="rId1" Type="http://schemas.openxmlformats.org/officeDocument/2006/relationships/image" Target="../media/image4.png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7.png"/><Relationship Id="rId1" Type="http://schemas.openxmlformats.org/officeDocument/2006/relationships/image" Target="../media/image73.png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9.png"/><Relationship Id="rId1" Type="http://schemas.openxmlformats.org/officeDocument/2006/relationships/image" Target="../media/image73.png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0.png"/><Relationship Id="rId1" Type="http://schemas.openxmlformats.org/officeDocument/2006/relationships/image" Target="../media/image73.png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1.png"/><Relationship Id="rId1" Type="http://schemas.openxmlformats.org/officeDocument/2006/relationships/image" Target="../media/image73.png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2.png"/><Relationship Id="rId1" Type="http://schemas.openxmlformats.org/officeDocument/2006/relationships/image" Target="../media/image73.png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3.png"/><Relationship Id="rId1" Type="http://schemas.openxmlformats.org/officeDocument/2006/relationships/image" Target="../media/image73.png"/></Relationships>
</file>

<file path=ppt/slides/_rels/slide4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4.png"/><Relationship Id="rId1" Type="http://schemas.openxmlformats.org/officeDocument/2006/relationships/image" Target="../media/image73.png"/></Relationships>
</file>

<file path=ppt/slides/_rels/slide4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9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90.jpeg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image" Target="../media/image4.png"/></Relationships>
</file>

<file path=ppt/slides/_rels/slide47.xml.rels><?xml version="1.0" encoding="UTF-8" standalone="yes"?>
<Relationships xmlns="http://schemas.openxmlformats.org/package/2006/relationships"><Relationship Id="rId9" Type="http://schemas.openxmlformats.org/officeDocument/2006/relationships/image" Target="../media/image98.png"/><Relationship Id="rId8" Type="http://schemas.openxmlformats.org/officeDocument/2006/relationships/image" Target="../media/image97.png"/><Relationship Id="rId7" Type="http://schemas.openxmlformats.org/officeDocument/2006/relationships/image" Target="../media/image96.png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99.png"/><Relationship Id="rId1" Type="http://schemas.openxmlformats.org/officeDocument/2006/relationships/image" Target="../media/image5.png"/></Relationships>
</file>

<file path=ppt/slides/_rels/slide4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50800" y="9525"/>
            <a:ext cx="12310745" cy="68484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title="WhatsApp Image 2026-05-11 at 7.21.22 AM.jpeg"/>
          <p:cNvPicPr preferRelativeResize="0"/>
          <p:nvPr/>
        </p:nvPicPr>
        <p:blipFill rotWithShape="1">
          <a:blip r:embed="rId1">
            <a:alphaModFix amt="43000"/>
          </a:blip>
          <a:srcRect t="7785" b="7785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 w="28575">
            <a:solidFill>
              <a:schemeClr val="accent6">
                <a:lumMod val="60000"/>
                <a:lumOff val="40000"/>
              </a:schemeClr>
            </a:solidFill>
          </a:ln>
          <a:effectLst>
            <a:outerShdw algn="bl" rotWithShape="0">
              <a:srgbClr val="000000">
                <a:alpha val="0"/>
              </a:srgbClr>
            </a:outerShdw>
            <a:reflection stA="0" endPos="30000" dist="38100" dir="5400000" fadeDir="5400012" sy="-100000" algn="bl" rotWithShape="0"/>
          </a:effectLst>
        </p:spPr>
      </p:pic>
      <p:sp>
        <p:nvSpPr>
          <p:cNvPr id="87" name="Google Shape;87;p13"/>
          <p:cNvSpPr txBox="1"/>
          <p:nvPr/>
        </p:nvSpPr>
        <p:spPr>
          <a:xfrm>
            <a:off x="121920" y="2627858"/>
            <a:ext cx="11601450" cy="1523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50000"/>
              </a:lnSpc>
              <a:buNone/>
            </a:pPr>
            <a:r>
              <a:rPr lang="en-US" sz="13800" b="1" i="1" u="none" strike="noStrike" cap="none">
                <a:solidFill>
                  <a:srgbClr val="F5F5D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Woodcraft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6000" b="1" i="0" u="none" strike="noStrike" cap="none">
                <a:solidFill>
                  <a:srgbClr val="F5F5D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</a:t>
            </a:r>
            <a:r>
              <a:rPr lang="en-US" sz="2400" b="1" i="0" u="none" strike="noStrike" cap="none">
                <a:solidFill>
                  <a:srgbClr val="F5F5D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(Web Application)</a:t>
            </a:r>
            <a:endParaRPr lang="en-US" sz="2400" b="1" i="0" u="none" strike="noStrike" cap="none">
              <a:solidFill>
                <a:srgbClr val="F5F5DC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3075" name="Picture 6" descr="C:\Users\usman.waheed\Desktop\vu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8090" y="5321935"/>
            <a:ext cx="2014538" cy="14636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76200">
            <a:noFill/>
          </a:ln>
        </p:spPr>
      </p:pic>
      <p:sp>
        <p:nvSpPr>
          <p:cNvPr id="95" name="Google Shape;95;p14"/>
          <p:cNvSpPr/>
          <p:nvPr/>
        </p:nvSpPr>
        <p:spPr>
          <a:xfrm>
            <a:off x="5427345" y="1871662"/>
            <a:ext cx="952500" cy="38100"/>
          </a:xfrm>
          <a:prstGeom prst="rect">
            <a:avLst/>
          </a:prstGeom>
          <a:solidFill>
            <a:srgbClr val="D269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3670300" y="2811780"/>
            <a:ext cx="6856730" cy="2618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800" b="1" i="1" u="sng" strike="noStrike" cap="none">
                <a:solidFill>
                  <a:srgbClr val="F5F5D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Student Name:</a:t>
            </a:r>
            <a:r>
              <a:rPr lang="en-US" altLang="en-US" sz="1800" b="1" i="1" u="none" strike="noStrike" cap="none">
                <a:solidFill>
                  <a:srgbClr val="F5F5D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</a:t>
            </a:r>
            <a:r>
              <a:rPr lang="en-US" altLang="en-US" sz="1800" b="1" i="0" u="none" strike="noStrike" cap="none">
                <a:solidFill>
                  <a:srgbClr val="F5F5D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	       NOOR UL NISA</a:t>
            </a:r>
            <a:endParaRPr lang="en-US" altLang="en-US" sz="1800" b="1" i="0" u="none" strike="noStrike" cap="none">
              <a:solidFill>
                <a:srgbClr val="F5F5DC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800" b="1" i="0" u="none" strike="noStrike" cap="none">
              <a:solidFill>
                <a:srgbClr val="F5F5DC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800" b="1" i="1" u="sng" strike="noStrike" cap="none">
                <a:solidFill>
                  <a:srgbClr val="F5F5D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VU ID:</a:t>
            </a:r>
            <a:r>
              <a:rPr lang="en-US" altLang="en-US" sz="1800" b="1" i="0" u="none" strike="noStrike" cap="none">
                <a:solidFill>
                  <a:srgbClr val="F5F5D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		       BC</a:t>
            </a:r>
            <a:r>
              <a:rPr lang="en-US" altLang="en-US" sz="1800" b="1" i="0" u="none" strike="noStrike" cap="none">
                <a:solidFill>
                  <a:srgbClr val="F5F5DC"/>
                </a:solidFill>
                <a:latin typeface="Times New Roman" panose="02020603050405020304" charset="0"/>
                <a:ea typeface="Playfair Display"/>
                <a:cs typeface="Times New Roman" panose="02020603050405020304" charset="0"/>
                <a:sym typeface="Playfair Display"/>
              </a:rPr>
              <a:t>220401664</a:t>
            </a:r>
            <a:endParaRPr lang="en-US" altLang="en-US" sz="1800" b="1" i="0" u="none" strike="noStrike" cap="none">
              <a:solidFill>
                <a:srgbClr val="F5F5DC"/>
              </a:solidFill>
              <a:latin typeface="Times New Roman" panose="02020603050405020304" charset="0"/>
              <a:ea typeface="Playfair Display"/>
              <a:cs typeface="Times New Roman" panose="02020603050405020304" charset="0"/>
              <a:sym typeface="Playfair Displa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800" b="1" i="0" u="none" strike="noStrike" cap="none">
              <a:solidFill>
                <a:srgbClr val="F5F5DC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800" b="1" i="1" u="sng" strike="noStrike" cap="none">
                <a:solidFill>
                  <a:srgbClr val="F5F5D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Program:</a:t>
            </a:r>
            <a:r>
              <a:rPr lang="en-US" altLang="en-US" sz="1800" b="1" i="1" u="none" strike="noStrike" cap="none">
                <a:solidFill>
                  <a:srgbClr val="F5F5D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</a:t>
            </a:r>
            <a:r>
              <a:rPr lang="en-US" altLang="en-US" sz="1800" b="1" i="0" u="none" strike="noStrike" cap="none">
                <a:solidFill>
                  <a:srgbClr val="F5F5D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	       BSIT (8th Semester)</a:t>
            </a:r>
            <a:endParaRPr lang="en-US" altLang="en-US" sz="1800" b="1" i="0" u="none" strike="noStrike" cap="none">
              <a:solidFill>
                <a:srgbClr val="F5F5DC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800" b="1" i="0" u="none" strike="noStrike" cap="none">
              <a:solidFill>
                <a:srgbClr val="F5F5DC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800" b="1" i="1" u="sng" strike="noStrike" cap="none">
                <a:solidFill>
                  <a:srgbClr val="F5F5D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Project Group ID:</a:t>
            </a:r>
            <a:r>
              <a:rPr lang="en-US" altLang="en-US" sz="1800" b="1" i="0" u="none" strike="noStrike" cap="none">
                <a:solidFill>
                  <a:srgbClr val="F5F5D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     F</a:t>
            </a:r>
            <a:r>
              <a:rPr lang="en-US" altLang="en-US" sz="1800" b="1" i="0" u="none" strike="noStrike" cap="none">
                <a:solidFill>
                  <a:srgbClr val="F5F5DC"/>
                </a:solidFill>
                <a:latin typeface="Times New Roman" panose="02020603050405020304" charset="0"/>
                <a:ea typeface="Playfair Display"/>
                <a:cs typeface="Times New Roman" panose="02020603050405020304" charset="0"/>
                <a:sym typeface="Playfair Display"/>
              </a:rPr>
              <a:t>25PROJECT4708C</a:t>
            </a:r>
            <a:endParaRPr lang="en-US" altLang="en-US" sz="1800" b="1" i="0" u="none" strike="noStrike" cap="none">
              <a:solidFill>
                <a:srgbClr val="F5F5DC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800" b="1" i="0" u="none" strike="noStrike" cap="none">
              <a:solidFill>
                <a:srgbClr val="F5F5DC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800" b="1" i="1" u="sng" strike="noStrike" cap="none">
                <a:solidFill>
                  <a:srgbClr val="F5F5D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Project Title:</a:t>
            </a:r>
            <a:r>
              <a:rPr lang="en-US" altLang="en-US" sz="1800" b="1" i="1" u="none" strike="noStrike" cap="none">
                <a:solidFill>
                  <a:srgbClr val="F5F5D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 </a:t>
            </a:r>
            <a:r>
              <a:rPr lang="en-US" altLang="en-US" sz="1800" b="1" i="0" u="none" strike="noStrike" cap="none">
                <a:solidFill>
                  <a:srgbClr val="F5F5D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             Woodcraft (Web App)</a:t>
            </a:r>
            <a:endParaRPr lang="en-US" altLang="en-US" sz="1800" b="1" i="0" u="none" strike="noStrike" cap="none">
              <a:solidFill>
                <a:srgbClr val="F5F5DC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" name="Google Shape;96;p14"/>
          <p:cNvSpPr txBox="1"/>
          <p:nvPr/>
        </p:nvSpPr>
        <p:spPr>
          <a:xfrm>
            <a:off x="295275" y="373697"/>
            <a:ext cx="11601450" cy="738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u="none" strike="noStrike" cap="none">
                <a:solidFill>
                  <a:srgbClr val="F5F5D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GROUP MEMBER INTRODUCTION</a:t>
            </a:r>
            <a:endParaRPr lang="en-US" sz="4800" b="1" u="none" strike="noStrike" cap="none">
              <a:solidFill>
                <a:srgbClr val="F5F5DC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" name="Google Shape;96;p14"/>
          <p:cNvSpPr txBox="1"/>
          <p:nvPr/>
        </p:nvSpPr>
        <p:spPr>
          <a:xfrm>
            <a:off x="989330" y="2369820"/>
            <a:ext cx="9306560" cy="757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400" b="1" i="1" u="sng" strike="noStrike" cap="none">
                <a:solidFill>
                  <a:srgbClr val="F5F5D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Submitted By:</a:t>
            </a:r>
            <a:r>
              <a:rPr lang="en-US" altLang="en-US" sz="2400" b="1" i="1" u="none" strike="noStrike" cap="none">
                <a:solidFill>
                  <a:srgbClr val="F5F5D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</a:t>
            </a:r>
            <a:endParaRPr lang="en-US" altLang="en-US" sz="2400" b="1" i="1" u="none" strike="noStrike" cap="none">
              <a:solidFill>
                <a:srgbClr val="F5F5DC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3" name="Google Shape;96;p14"/>
          <p:cNvSpPr txBox="1"/>
          <p:nvPr/>
        </p:nvSpPr>
        <p:spPr>
          <a:xfrm>
            <a:off x="989330" y="5351780"/>
            <a:ext cx="9306560" cy="391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400" b="1" i="1" u="sng" strike="noStrike" cap="none">
                <a:solidFill>
                  <a:srgbClr val="F5F5D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Supervisor: </a:t>
            </a:r>
            <a:endParaRPr lang="en-US" altLang="en-US" sz="2400" b="1" i="1" u="sng" strike="noStrike" cap="none">
              <a:solidFill>
                <a:srgbClr val="F5F5DC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5" name="Google Shape;96;p14"/>
          <p:cNvSpPr txBox="1"/>
          <p:nvPr/>
        </p:nvSpPr>
        <p:spPr>
          <a:xfrm>
            <a:off x="3670300" y="6009640"/>
            <a:ext cx="5159375" cy="391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400" b="1" i="1" u="none" strike="noStrike" cap="none">
                <a:solidFill>
                  <a:srgbClr val="F5F5D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Abdul Majid Khokhar</a:t>
            </a:r>
            <a:endParaRPr lang="en-US" altLang="en-US" sz="2400" b="1" i="1" u="none" strike="noStrike" cap="none">
              <a:solidFill>
                <a:srgbClr val="F5F5DC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Google Shape;94;p1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-2857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276850" y="4433887"/>
            <a:ext cx="634365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97;p14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09600" y="2033587"/>
            <a:ext cx="3733800" cy="3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5276850" y="2633662"/>
            <a:ext cx="6660832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B2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NOOR UL NISA</a:t>
            </a:r>
            <a:endParaRPr lang="en-US" sz="2400" b="1" i="0" u="none" strike="noStrike" cap="none">
              <a:solidFill>
                <a:srgbClr val="FFB2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5276850" y="3214370"/>
            <a:ext cx="6343650" cy="1266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A0A0A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An 8th-semester BSIT student at the Virtual University of Pakistan, I have spearheaded the design and development of the Woodcraft Management System as a standalone project. My role spans full-stack engineering, database architecture, and UI/UX design.</a:t>
            </a:r>
            <a:endParaRPr lang="en-US" sz="1350" b="0" i="0" u="none" strike="noStrike" cap="none">
              <a:solidFill>
                <a:srgbClr val="A0A0A0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5514975" y="4672012"/>
            <a:ext cx="58674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2691E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"Combining traditional artisan craftsmanship with modern digital efficiency."</a:t>
            </a:r>
            <a:endParaRPr lang="en-US" sz="1350" b="0" i="0" u="none" strike="noStrike" cap="none">
              <a:solidFill>
                <a:srgbClr val="D2691E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762000" y="571500"/>
            <a:ext cx="11401425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F5F5D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Solo Project Developer</a:t>
            </a:r>
            <a:endParaRPr lang="en-US" sz="3300" b="0" i="0" u="none" strike="noStrike" cap="none">
              <a:solidFill>
                <a:srgbClr val="F5F5DC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571500" y="571500"/>
            <a:ext cx="47625" cy="561975"/>
          </a:xfrm>
          <a:prstGeom prst="rect">
            <a:avLst/>
          </a:prstGeom>
          <a:solidFill>
            <a:srgbClr val="D269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95" name="Google Shape;95;p14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71500" y="1995487"/>
            <a:ext cx="381000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048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" name="Picture 0"/>
          <p:cNvPicPr/>
          <p:nvPr/>
        </p:nvPicPr>
        <p:blipFill>
          <a:blip r:embed="rId2"/>
          <a:stretch>
            <a:fillRect/>
          </a:stretch>
        </p:blipFill>
        <p:spPr>
          <a:xfrm>
            <a:off x="6448425" y="0"/>
            <a:ext cx="5743575" cy="6858635"/>
          </a:xfrm>
          <a:prstGeom prst="rect">
            <a:avLst/>
          </a:prstGeom>
        </p:spPr>
      </p:pic>
      <p:grpSp>
        <p:nvGrpSpPr>
          <p:cNvPr id="2" name="Group 1"/>
          <p:cNvGrpSpPr/>
          <p:nvPr/>
        </p:nvGrpSpPr>
        <p:grpSpPr>
          <a:xfrm>
            <a:off x="258445" y="784225"/>
            <a:ext cx="5860279" cy="673735"/>
            <a:chOff x="631" y="350"/>
            <a:chExt cx="18828" cy="1061"/>
          </a:xfrm>
        </p:grpSpPr>
        <p:sp>
          <p:nvSpPr>
            <p:cNvPr id="260" name="Google Shape;260;p25"/>
            <p:cNvSpPr txBox="1"/>
            <p:nvPr/>
          </p:nvSpPr>
          <p:spPr>
            <a:xfrm>
              <a:off x="1504" y="436"/>
              <a:ext cx="17955" cy="8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indent="0">
                <a:buNone/>
              </a:pPr>
              <a:r>
                <a:rPr lang="en-US" sz="3600" b="1" cap="none">
                  <a:solidFill>
                    <a:srgbClr val="F5F5DC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What is Woodcraft ?</a:t>
              </a:r>
              <a:endParaRPr lang="en-US" sz="3600" b="1" cap="none">
                <a:solidFill>
                  <a:srgbClr val="F5F5DC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261" name="Google Shape;261;p25"/>
            <p:cNvSpPr/>
            <p:nvPr/>
          </p:nvSpPr>
          <p:spPr>
            <a:xfrm>
              <a:off x="631" y="350"/>
              <a:ext cx="271" cy="1061"/>
            </a:xfrm>
            <a:prstGeom prst="rect">
              <a:avLst/>
            </a:prstGeom>
            <a:solidFill>
              <a:srgbClr val="D2691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3" name="Text Box 2"/>
          <p:cNvSpPr txBox="1"/>
          <p:nvPr/>
        </p:nvSpPr>
        <p:spPr>
          <a:xfrm>
            <a:off x="452120" y="2002790"/>
            <a:ext cx="5080000" cy="2061210"/>
          </a:xfrm>
          <a:prstGeom prst="rect">
            <a:avLst/>
          </a:prstGeom>
        </p:spPr>
        <p:txBody>
          <a:bodyPr>
            <a:spAutoFit/>
          </a:bodyPr>
          <a:p>
            <a:pPr marL="0" indent="0" algn="l"/>
            <a:r>
              <a:rPr lang="en-US" altLang="zh-CN" sz="1600" b="0" i="0">
                <a:solidFill>
                  <a:schemeClr val="bg1"/>
                </a:solidFill>
                <a:latin typeface="Lato" panose="020F0502020204030203"/>
                <a:ea typeface="Lato" panose="020F0502020204030203"/>
              </a:rPr>
              <a:t>Woodcraft is a professional Web-Application designed to digitize the end-to-end operations of a woodcraft workshop.</a:t>
            </a:r>
            <a:br>
              <a:rPr lang="en-US" altLang="zh-CN" sz="1600" b="0" i="0">
                <a:solidFill>
                  <a:schemeClr val="bg1"/>
                </a:solidFill>
                <a:latin typeface="Lato" panose="020F0502020204030203"/>
                <a:ea typeface="Lato" panose="020F0502020204030203"/>
              </a:rPr>
            </a:br>
            <a:endParaRPr lang="en-US" altLang="zh-CN" sz="1600" b="0" i="0">
              <a:solidFill>
                <a:schemeClr val="bg1"/>
              </a:solidFill>
              <a:latin typeface="Lato" panose="020F0502020204030203"/>
              <a:ea typeface="Lato" panose="020F0502020204030203"/>
            </a:endParaRPr>
          </a:p>
          <a:p>
            <a:pPr marL="0" indent="0" algn="just"/>
            <a:r>
              <a:rPr lang="en-US" altLang="zh-CN" sz="1600" b="0" i="0">
                <a:solidFill>
                  <a:schemeClr val="bg1"/>
                </a:solidFill>
                <a:latin typeface="Lato" panose="020F0502020204030203"/>
                <a:ea typeface="Lato" panose="020F0502020204030203"/>
              </a:rPr>
              <a:t>It bridges the gap between traditional craftsmanship and modern management by integrating order processing, real-time inventory, and artisan worklogs into one seamless interface.</a:t>
            </a:r>
            <a:endParaRPr lang="en-US" altLang="zh-CN" sz="1600" b="0" i="0">
              <a:solidFill>
                <a:schemeClr val="bg1"/>
              </a:solidFill>
              <a:latin typeface="Lato" panose="020F0502020204030203"/>
              <a:ea typeface="Lato" panose="020F0502020204030203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41960" y="4470082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en-US" altLang="zh-CN" sz="1600" b="1" i="0">
                <a:solidFill>
                  <a:srgbClr val="F59E0B"/>
                </a:solidFill>
                <a:latin typeface="Lato" panose="020F0502020204030203"/>
                <a:ea typeface="Lato" panose="020F0502020204030203"/>
              </a:rPr>
              <a:t>"Empowering workshops with data-driven decision making."</a:t>
            </a:r>
            <a:endParaRPr lang="en-US" altLang="zh-CN" sz="1600" b="1" i="0">
              <a:solidFill>
                <a:srgbClr val="F59E0B"/>
              </a:solidFill>
              <a:latin typeface="Lato" panose="020F0502020204030203"/>
              <a:ea typeface="Lato" panose="020F0502020204030203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" name="Group 3"/>
          <p:cNvGrpSpPr/>
          <p:nvPr/>
        </p:nvGrpSpPr>
        <p:grpSpPr>
          <a:xfrm>
            <a:off x="0" y="0"/>
            <a:ext cx="12192000" cy="6858000"/>
            <a:chOff x="0" y="0"/>
            <a:chExt cx="19200" cy="10800"/>
          </a:xfrm>
        </p:grpSpPr>
        <p:pic>
          <p:nvPicPr>
            <p:cNvPr id="84" name="Google Shape;84;p13" descr="image.png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0" y="0"/>
              <a:ext cx="19200" cy="10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" name="Google Shape;85;p13" descr="image.png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900" y="7050"/>
              <a:ext cx="10080" cy="301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" name="Google Shape;86;p13" descr="image.png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1580" y="2310"/>
              <a:ext cx="6720" cy="681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" name="Google Shape;87;p13"/>
            <p:cNvSpPr txBox="1"/>
            <p:nvPr/>
          </p:nvSpPr>
          <p:spPr>
            <a:xfrm>
              <a:off x="1575" y="2550"/>
              <a:ext cx="9405" cy="13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i="0" u="none" strike="noStrike" cap="none">
                  <a:solidFill>
                    <a:srgbClr val="F5F5DC"/>
                  </a:solidFill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rPr>
                <a:t>Manual Inefficiency:</a:t>
              </a:r>
              <a:r>
                <a:rPr lang="en-US" sz="1500" b="0" i="0" u="none" strike="noStrike" cap="none">
                  <a:solidFill>
                    <a:srgbClr val="A0A0A0"/>
                  </a:solidFill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rPr>
                <a:t> Traditional workshops rely on physical registers, leading to lost data, inaccurate inventory levels, and payment discrepancies.</a:t>
              </a:r>
              <a:endParaRPr lang="en-US" sz="1500" b="0" i="0" u="none" strike="noStrike" cap="none">
                <a:solidFill>
                  <a:srgbClr val="A0A0A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endParaRPr>
            </a:p>
          </p:txBody>
        </p:sp>
        <p:sp>
          <p:nvSpPr>
            <p:cNvPr id="88" name="Google Shape;88;p13"/>
            <p:cNvSpPr txBox="1"/>
            <p:nvPr/>
          </p:nvSpPr>
          <p:spPr>
            <a:xfrm>
              <a:off x="1575" y="4200"/>
              <a:ext cx="9405" cy="13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i="0" u="none" strike="noStrike" cap="none">
                  <a:solidFill>
                    <a:srgbClr val="F5F5DC"/>
                  </a:solidFill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rPr>
                <a:t>Lack of Transparency:</a:t>
              </a:r>
              <a:r>
                <a:rPr lang="en-US" sz="1500" b="0" i="0" u="none" strike="noStrike" cap="none">
                  <a:solidFill>
                    <a:srgbClr val="A0A0A0"/>
                  </a:solidFill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rPr>
                <a:t> Customers often have no way to track progress without visiting the shop, and employees struggle to prioritize tasks without clear assignments.</a:t>
              </a:r>
              <a:endParaRPr lang="en-US" sz="1500" b="0" i="0" u="none" strike="noStrike" cap="none">
                <a:solidFill>
                  <a:srgbClr val="A0A0A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endParaRPr>
            </a:p>
          </p:txBody>
        </p:sp>
        <p:sp>
          <p:nvSpPr>
            <p:cNvPr id="89" name="Google Shape;89;p13"/>
            <p:cNvSpPr txBox="1"/>
            <p:nvPr/>
          </p:nvSpPr>
          <p:spPr>
            <a:xfrm>
              <a:off x="1575" y="5850"/>
              <a:ext cx="9405" cy="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i="0" u="none" strike="noStrike" cap="none">
                  <a:solidFill>
                    <a:srgbClr val="F5F5DC"/>
                  </a:solidFill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rPr>
                <a:t>Resource Wastage:</a:t>
              </a:r>
              <a:r>
                <a:rPr lang="en-US" sz="1500" b="0" i="0" u="none" strike="noStrike" cap="none">
                  <a:solidFill>
                    <a:srgbClr val="A0A0A0"/>
                  </a:solidFill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rPr>
                <a:t> Without material tracking, wood and hardware are often over-purchased or unavailable when needed.</a:t>
              </a:r>
              <a:endParaRPr lang="en-US" sz="1500" b="0" i="0" u="none" strike="noStrike" cap="none">
                <a:solidFill>
                  <a:srgbClr val="A0A0A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endParaRPr>
            </a:p>
          </p:txBody>
        </p:sp>
        <p:sp>
          <p:nvSpPr>
            <p:cNvPr id="90" name="Google Shape;90;p13"/>
            <p:cNvSpPr txBox="1"/>
            <p:nvPr/>
          </p:nvSpPr>
          <p:spPr>
            <a:xfrm>
              <a:off x="1215" y="7365"/>
              <a:ext cx="9922" cy="4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0" u="none" strike="noStrike" cap="none">
                  <a:solidFill>
                    <a:srgbClr val="D2691E"/>
                  </a:solidFill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rPr>
                <a:t>Project Objective</a:t>
              </a:r>
              <a:endParaRPr lang="en-US" sz="1800" b="1" i="0" u="none" strike="noStrike" cap="none">
                <a:solidFill>
                  <a:srgbClr val="D2691E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endParaRPr>
            </a:p>
          </p:txBody>
        </p:sp>
        <p:sp>
          <p:nvSpPr>
            <p:cNvPr id="91" name="Google Shape;91;p13"/>
            <p:cNvSpPr txBox="1"/>
            <p:nvPr/>
          </p:nvSpPr>
          <p:spPr>
            <a:xfrm>
              <a:off x="1215" y="8100"/>
              <a:ext cx="9450" cy="13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u="none" strike="noStrike" cap="none">
                  <a:solidFill>
                    <a:srgbClr val="A0A0A0"/>
                  </a:solidFill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rPr>
                <a:t>To build a role-aware dashboard that bridges the gap between traditional craftsmanship and modern digital efficiency through React 18 and MySQL.</a:t>
              </a:r>
              <a:endParaRPr lang="en-US" sz="1500" b="0" i="0" u="none" strike="noStrike" cap="none">
                <a:solidFill>
                  <a:srgbClr val="A0A0A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endParaRPr>
            </a:p>
          </p:txBody>
        </p:sp>
        <p:pic>
          <p:nvPicPr>
            <p:cNvPr id="92" name="Google Shape;92;p13" descr="image.png"/>
            <p:cNvPicPr preferRelativeResize="0"/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11610" y="2340"/>
              <a:ext cx="6660" cy="6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" name="Google Shape;93;p13" descr="image.png"/>
            <p:cNvPicPr preferRelativeResize="0"/>
            <p:nvPr/>
          </p:nvPicPr>
          <p:blipFill rotWithShape="1">
            <a:blip r:embed="rId5"/>
            <a:srcRect/>
            <a:stretch>
              <a:fillRect/>
            </a:stretch>
          </p:blipFill>
          <p:spPr>
            <a:xfrm>
              <a:off x="11580" y="9420"/>
              <a:ext cx="2565" cy="4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4" name="Google Shape;94;p13" descr="image.png"/>
            <p:cNvPicPr preferRelativeResize="0"/>
            <p:nvPr/>
          </p:nvPicPr>
          <p:blipFill rotWithShape="1">
            <a:blip r:embed="rId6"/>
            <a:srcRect/>
            <a:stretch>
              <a:fillRect/>
            </a:stretch>
          </p:blipFill>
          <p:spPr>
            <a:xfrm>
              <a:off x="14370" y="9420"/>
              <a:ext cx="1365" cy="4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5" name="Google Shape;95;p13" descr="image.png"/>
            <p:cNvPicPr preferRelativeResize="0"/>
            <p:nvPr/>
          </p:nvPicPr>
          <p:blipFill rotWithShape="1">
            <a:blip r:embed="rId7"/>
            <a:srcRect/>
            <a:stretch>
              <a:fillRect/>
            </a:stretch>
          </p:blipFill>
          <p:spPr>
            <a:xfrm>
              <a:off x="900" y="2617"/>
              <a:ext cx="330" cy="3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6" name="Google Shape;96;p13" descr="image.png"/>
            <p:cNvPicPr preferRelativeResize="0"/>
            <p:nvPr/>
          </p:nvPicPr>
          <p:blipFill rotWithShape="1">
            <a:blip r:embed="rId8"/>
            <a:srcRect/>
            <a:stretch>
              <a:fillRect/>
            </a:stretch>
          </p:blipFill>
          <p:spPr>
            <a:xfrm>
              <a:off x="900" y="4267"/>
              <a:ext cx="420" cy="3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" name="Google Shape;97;p13" descr="image.png"/>
            <p:cNvPicPr preferRelativeResize="0"/>
            <p:nvPr/>
          </p:nvPicPr>
          <p:blipFill rotWithShape="1">
            <a:blip r:embed="rId9"/>
            <a:srcRect/>
            <a:stretch>
              <a:fillRect/>
            </a:stretch>
          </p:blipFill>
          <p:spPr>
            <a:xfrm>
              <a:off x="900" y="5917"/>
              <a:ext cx="285" cy="34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" name="Google Shape;98;p13"/>
            <p:cNvSpPr txBox="1"/>
            <p:nvPr/>
          </p:nvSpPr>
          <p:spPr>
            <a:xfrm>
              <a:off x="1275" y="900"/>
              <a:ext cx="17876" cy="9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1" i="0" u="none" strike="noStrike" cap="none">
                  <a:solidFill>
                    <a:srgbClr val="F5F5DC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1. The Digital Need in Woodworking</a:t>
              </a:r>
              <a:endParaRPr lang="en-US" sz="3600" b="1" i="0" u="none" strike="noStrike" cap="none">
                <a:solidFill>
                  <a:srgbClr val="F5F5DC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99" name="Google Shape;99;p13"/>
            <p:cNvSpPr/>
            <p:nvPr/>
          </p:nvSpPr>
          <p:spPr>
            <a:xfrm>
              <a:off x="900" y="900"/>
              <a:ext cx="90" cy="960"/>
            </a:xfrm>
            <a:prstGeom prst="rect">
              <a:avLst/>
            </a:prstGeom>
            <a:solidFill>
              <a:srgbClr val="D2691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" name="Group 3"/>
          <p:cNvGrpSpPr/>
          <p:nvPr/>
        </p:nvGrpSpPr>
        <p:grpSpPr>
          <a:xfrm>
            <a:off x="0" y="0"/>
            <a:ext cx="12192000" cy="6858000"/>
            <a:chOff x="0" y="0"/>
            <a:chExt cx="19200" cy="10800"/>
          </a:xfrm>
        </p:grpSpPr>
        <p:pic>
          <p:nvPicPr>
            <p:cNvPr id="104" name="Google Shape;104;p14" descr="image.png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0" y="0"/>
              <a:ext cx="19200" cy="10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5" name="Google Shape;105;p14" descr="image.png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1580" y="2310"/>
              <a:ext cx="6720" cy="681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" name="Google Shape;106;p14"/>
            <p:cNvSpPr txBox="1"/>
            <p:nvPr/>
          </p:nvSpPr>
          <p:spPr>
            <a:xfrm>
              <a:off x="1575" y="2550"/>
              <a:ext cx="9405" cy="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i="0" u="none" strike="noStrike" cap="none">
                  <a:solidFill>
                    <a:srgbClr val="F5F5DC"/>
                  </a:solidFill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rPr>
                <a:t>Role-Based Ecosystem:</a:t>
              </a:r>
              <a:r>
                <a:rPr lang="en-US" sz="1500" b="0" i="0" u="none" strike="noStrike" cap="none">
                  <a:solidFill>
                    <a:srgbClr val="A0A0A0"/>
                  </a:solidFill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rPr>
                <a:t> Personalized interfaces for Admins (Management), Customers (Orders), and Employees (Tasks).</a:t>
              </a:r>
              <a:endParaRPr lang="en-US" sz="1500" b="0" i="0" u="none" strike="noStrike" cap="none">
                <a:solidFill>
                  <a:srgbClr val="A0A0A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endParaRPr>
            </a:p>
          </p:txBody>
        </p:sp>
        <p:sp>
          <p:nvSpPr>
            <p:cNvPr id="107" name="Google Shape;107;p14"/>
            <p:cNvSpPr txBox="1"/>
            <p:nvPr/>
          </p:nvSpPr>
          <p:spPr>
            <a:xfrm>
              <a:off x="1575" y="3750"/>
              <a:ext cx="9405" cy="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i="0" u="none" strike="noStrike" cap="none">
                  <a:solidFill>
                    <a:srgbClr val="F5F5DC"/>
                  </a:solidFill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rPr>
                <a:t>Automated Workflow:</a:t>
              </a:r>
              <a:r>
                <a:rPr lang="en-US" sz="1500" b="0" i="0" u="none" strike="noStrike" cap="none">
                  <a:solidFill>
                    <a:srgbClr val="A0A0A0"/>
                  </a:solidFill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rPr>
                <a:t> Real-time conversion of orders into digital invoices with automated balance and wage calculations.</a:t>
              </a:r>
              <a:endParaRPr lang="en-US" sz="1500" b="0" i="0" u="none" strike="noStrike" cap="none">
                <a:solidFill>
                  <a:srgbClr val="A0A0A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endParaRPr>
            </a:p>
          </p:txBody>
        </p:sp>
        <p:sp>
          <p:nvSpPr>
            <p:cNvPr id="108" name="Google Shape;108;p14"/>
            <p:cNvSpPr txBox="1"/>
            <p:nvPr/>
          </p:nvSpPr>
          <p:spPr>
            <a:xfrm>
              <a:off x="1575" y="4950"/>
              <a:ext cx="9405" cy="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i="0" u="none" strike="noStrike" cap="none">
                  <a:solidFill>
                    <a:srgbClr val="F5F5DC"/>
                  </a:solidFill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rPr>
                <a:t>Inventory Management:</a:t>
              </a:r>
              <a:r>
                <a:rPr lang="en-US" sz="1500" b="0" i="0" u="none" strike="noStrike" cap="none">
                  <a:solidFill>
                    <a:srgbClr val="A0A0A0"/>
                  </a:solidFill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rPr>
                <a:t> Dynamic material tracking with "Low Stock" alerts to prevent workshop downtime.</a:t>
              </a:r>
              <a:endParaRPr lang="en-US" sz="1500" b="0" i="0" u="none" strike="noStrike" cap="none">
                <a:solidFill>
                  <a:srgbClr val="A0A0A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endParaRPr>
            </a:p>
          </p:txBody>
        </p:sp>
        <p:sp>
          <p:nvSpPr>
            <p:cNvPr id="109" name="Google Shape;109;p14"/>
            <p:cNvSpPr txBox="1"/>
            <p:nvPr/>
          </p:nvSpPr>
          <p:spPr>
            <a:xfrm>
              <a:off x="1575" y="6150"/>
              <a:ext cx="9405" cy="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i="0" u="none" strike="noStrike" cap="none">
                  <a:solidFill>
                    <a:srgbClr val="F5F5DC"/>
                  </a:solidFill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rPr>
                <a:t>Security &amp; Approval:</a:t>
              </a:r>
              <a:r>
                <a:rPr lang="en-US" sz="1500" b="0" i="0" u="none" strike="noStrike" cap="none">
                  <a:solidFill>
                    <a:srgbClr val="A0A0A0"/>
                  </a:solidFill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rPr>
                <a:t> Secure registration flow where Admins must approve new accounts before system access.</a:t>
              </a:r>
              <a:endParaRPr lang="en-US" sz="1500" b="0" i="0" u="none" strike="noStrike" cap="none">
                <a:solidFill>
                  <a:srgbClr val="A0A0A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endParaRPr>
            </a:p>
          </p:txBody>
        </p:sp>
        <p:pic>
          <p:nvPicPr>
            <p:cNvPr id="110" name="Google Shape;110;p14" descr="image.png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1610" y="2340"/>
              <a:ext cx="6660" cy="6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1" name="Google Shape;111;p14" descr="image.png"/>
            <p:cNvPicPr preferRelativeResize="0"/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11580" y="9420"/>
              <a:ext cx="2190" cy="4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2" name="Google Shape;112;p14" descr="image.png"/>
            <p:cNvPicPr preferRelativeResize="0"/>
            <p:nvPr/>
          </p:nvPicPr>
          <p:blipFill rotWithShape="1">
            <a:blip r:embed="rId5"/>
            <a:srcRect/>
            <a:stretch>
              <a:fillRect/>
            </a:stretch>
          </p:blipFill>
          <p:spPr>
            <a:xfrm>
              <a:off x="13995" y="9420"/>
              <a:ext cx="1575" cy="4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3" name="Google Shape;113;p14" descr="image.png"/>
            <p:cNvPicPr preferRelativeResize="0"/>
            <p:nvPr/>
          </p:nvPicPr>
          <p:blipFill rotWithShape="1">
            <a:blip r:embed="rId6"/>
            <a:srcRect/>
            <a:stretch>
              <a:fillRect/>
            </a:stretch>
          </p:blipFill>
          <p:spPr>
            <a:xfrm>
              <a:off x="900" y="2617"/>
              <a:ext cx="420" cy="3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4" name="Google Shape;114;p14" descr="image.png"/>
            <p:cNvPicPr preferRelativeResize="0"/>
            <p:nvPr/>
          </p:nvPicPr>
          <p:blipFill rotWithShape="1">
            <a:blip r:embed="rId7"/>
            <a:srcRect/>
            <a:stretch>
              <a:fillRect/>
            </a:stretch>
          </p:blipFill>
          <p:spPr>
            <a:xfrm>
              <a:off x="900" y="3817"/>
              <a:ext cx="255" cy="3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5" name="Google Shape;115;p14" descr="image.png"/>
            <p:cNvPicPr preferRelativeResize="0"/>
            <p:nvPr/>
          </p:nvPicPr>
          <p:blipFill rotWithShape="1">
            <a:blip r:embed="rId8"/>
            <a:srcRect/>
            <a:stretch>
              <a:fillRect/>
            </a:stretch>
          </p:blipFill>
          <p:spPr>
            <a:xfrm>
              <a:off x="900" y="5017"/>
              <a:ext cx="420" cy="34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" name="Google Shape;116;p14"/>
            <p:cNvSpPr txBox="1"/>
            <p:nvPr/>
          </p:nvSpPr>
          <p:spPr>
            <a:xfrm>
              <a:off x="1275" y="900"/>
              <a:ext cx="17876" cy="9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1" i="0" u="none" strike="noStrike" cap="none">
                  <a:solidFill>
                    <a:srgbClr val="F5F5DC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2. Woodcraft Scope &amp; Functional Core</a:t>
              </a:r>
              <a:endParaRPr lang="en-US" sz="3600" b="1" i="0" u="none" strike="noStrike" cap="none">
                <a:solidFill>
                  <a:srgbClr val="F5F5DC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117" name="Google Shape;117;p14"/>
            <p:cNvSpPr/>
            <p:nvPr/>
          </p:nvSpPr>
          <p:spPr>
            <a:xfrm>
              <a:off x="900" y="900"/>
              <a:ext cx="90" cy="960"/>
            </a:xfrm>
            <a:prstGeom prst="rect">
              <a:avLst/>
            </a:prstGeom>
            <a:solidFill>
              <a:srgbClr val="D2691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5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" name="Group 0"/>
          <p:cNvGrpSpPr/>
          <p:nvPr/>
        </p:nvGrpSpPr>
        <p:grpSpPr>
          <a:xfrm>
            <a:off x="400685" y="222250"/>
            <a:ext cx="11619230" cy="561340"/>
            <a:chOff x="631" y="350"/>
            <a:chExt cx="18298" cy="884"/>
          </a:xfrm>
        </p:grpSpPr>
        <p:sp>
          <p:nvSpPr>
            <p:cNvPr id="260" name="Google Shape;260;p25"/>
            <p:cNvSpPr txBox="1"/>
            <p:nvPr/>
          </p:nvSpPr>
          <p:spPr>
            <a:xfrm>
              <a:off x="975" y="436"/>
              <a:ext cx="17955" cy="7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indent="0">
                <a:buNone/>
              </a:pPr>
              <a:r>
                <a:rPr lang="en-US" sz="3300" b="1" cap="none">
                  <a:solidFill>
                    <a:srgbClr val="F5F5DC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VU Process Model</a:t>
              </a:r>
              <a:endParaRPr lang="en-US" sz="3300" b="1" cap="none">
                <a:solidFill>
                  <a:srgbClr val="F5F5DC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261" name="Google Shape;261;p25"/>
            <p:cNvSpPr/>
            <p:nvPr/>
          </p:nvSpPr>
          <p:spPr>
            <a:xfrm>
              <a:off x="631" y="350"/>
              <a:ext cx="75" cy="885"/>
            </a:xfrm>
            <a:prstGeom prst="rect">
              <a:avLst/>
            </a:prstGeom>
            <a:solidFill>
              <a:srgbClr val="D2691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pic>
        <p:nvPicPr>
          <p:cNvPr id="-2147482614" name="Picture -21474826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0585" y="207645"/>
            <a:ext cx="4673600" cy="301752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73742853" name="Picture 107374285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0585" y="3583305"/>
            <a:ext cx="4678680" cy="306641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31" name="Google Shape;231;p23"/>
          <p:cNvSpPr txBox="1"/>
          <p:nvPr/>
        </p:nvSpPr>
        <p:spPr>
          <a:xfrm>
            <a:off x="448310" y="784225"/>
            <a:ext cx="6819900" cy="3617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None/>
            </a:pPr>
            <a:r>
              <a:rPr lang="en-US" sz="2100" b="0" i="1" u="none" strike="noStrike" cap="none">
                <a:solidFill>
                  <a:srgbClr val="F5F5DC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"</a:t>
            </a:r>
            <a:r>
              <a:rPr lang="en-US" sz="2100" b="1" i="1" u="none" strike="noStrike" cap="none">
                <a:solidFill>
                  <a:srgbClr val="F5F5DC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Woodcraft</a:t>
            </a:r>
            <a:r>
              <a:rPr lang="en-US" sz="2100" b="0" i="1" u="none" strike="noStrike" cap="none">
                <a:solidFill>
                  <a:srgbClr val="F5F5DC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” </a:t>
            </a:r>
            <a:r>
              <a:rPr lang="en-US" altLang="en-US" sz="2100" b="0" i="1" u="none" strike="noStrike" cap="none">
                <a:solidFill>
                  <a:srgbClr val="F5F5DC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project follows the </a:t>
            </a:r>
            <a:r>
              <a:rPr lang="en-US" altLang="en-US" sz="2100" b="1" i="1" u="none" strike="noStrike" cap="none">
                <a:solidFill>
                  <a:srgbClr val="F5F5DC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VU Process Model</a:t>
            </a:r>
            <a:r>
              <a:rPr lang="en-US" altLang="en-US" sz="2100" b="0" i="1" u="none" strike="noStrike" cap="none">
                <a:solidFill>
                  <a:srgbClr val="F5F5DC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is a </a:t>
            </a:r>
            <a:r>
              <a:rPr lang="en-US" altLang="en-US" sz="2100" b="0" i="1" u="sng" strike="noStrike" cap="none">
                <a:solidFill>
                  <a:srgbClr val="F5F5DC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hybrid methodology</a:t>
            </a:r>
            <a:r>
              <a:rPr lang="en-US" altLang="en-US" sz="2100" b="0" i="1" u="none" strike="noStrike" cap="none">
                <a:solidFill>
                  <a:srgbClr val="F5F5DC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combining:</a:t>
            </a:r>
            <a:br>
              <a:rPr lang="en-US" altLang="en-US" sz="2100" b="0" i="1" u="none" strike="noStrike" cap="none">
                <a:solidFill>
                  <a:srgbClr val="F5F5DC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</a:br>
            <a:r>
              <a:rPr lang="en-US" altLang="en-US" sz="2100" b="0" i="1" u="none" strike="noStrike" cap="none">
                <a:solidFill>
                  <a:srgbClr val="F5F5DC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     1. </a:t>
            </a:r>
            <a:r>
              <a:rPr lang="en-US" altLang="en-US" sz="2100" b="1" i="1" u="none" strike="noStrike" cap="none">
                <a:solidFill>
                  <a:srgbClr val="F5F5DC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Waterfall’</a:t>
            </a:r>
            <a:r>
              <a:rPr lang="en-US" altLang="en-US" sz="2100" b="0" i="1" u="none" strike="noStrike" cap="none">
                <a:solidFill>
                  <a:srgbClr val="F5F5DC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s structured, phase-by-phase documentation.</a:t>
            </a:r>
            <a:br>
              <a:rPr lang="en-US" altLang="en-US" sz="2100" b="0" i="1" u="none" strike="noStrike" cap="none">
                <a:solidFill>
                  <a:srgbClr val="F5F5DC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</a:br>
            <a:r>
              <a:rPr lang="en-US" altLang="en-US" sz="2100" b="0" i="1" u="none" strike="noStrike" cap="none">
                <a:solidFill>
                  <a:srgbClr val="F5F5DC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     2. </a:t>
            </a:r>
            <a:r>
              <a:rPr lang="en-US" altLang="en-US" sz="2100" b="1" i="1" u="none" strike="noStrike" cap="none">
                <a:solidFill>
                  <a:srgbClr val="F5F5DC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Spiral’</a:t>
            </a:r>
            <a:r>
              <a:rPr lang="en-US" altLang="en-US" sz="2100" b="0" i="1" u="none" strike="noStrike" cap="none">
                <a:solidFill>
                  <a:srgbClr val="F5F5DC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s iterative development and risk analysis.</a:t>
            </a:r>
            <a:br>
              <a:rPr lang="en-US" altLang="en-US" sz="2100" b="0" i="1" u="none" strike="noStrike" cap="none">
                <a:solidFill>
                  <a:srgbClr val="F5F5DC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</a:br>
            <a:endParaRPr lang="en-US" altLang="en-US" sz="2100" b="0" i="1" u="none" strike="noStrike" cap="none">
              <a:solidFill>
                <a:srgbClr val="F5F5DC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100" b="0" i="1" u="none" strike="noStrike" cap="none">
                <a:solidFill>
                  <a:srgbClr val="F5F5DC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It follows phases sequentially (like Waterfall) but each phase contains mini-iterations (like Spiral).</a:t>
            </a:r>
            <a:endParaRPr lang="en-US" altLang="en-US" sz="2100" b="0" i="1" u="none" strike="noStrike" cap="none">
              <a:solidFill>
                <a:srgbClr val="F5F5DC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510540" y="3500437"/>
            <a:ext cx="11049000" cy="38100"/>
          </a:xfrm>
          <a:prstGeom prst="rect">
            <a:avLst/>
          </a:prstGeom>
          <a:solidFill>
            <a:srgbClr val="8B5A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1" name="Google Shape;211;p22"/>
          <p:cNvSpPr/>
          <p:nvPr/>
        </p:nvSpPr>
        <p:spPr>
          <a:xfrm>
            <a:off x="1710630" y="4300537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D2691E"/>
          </a:solidFill>
          <a:ln w="38100" cap="flat" cmpd="sng">
            <a:solidFill>
              <a:srgbClr val="12121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2" name="Google Shape;212;p22"/>
          <p:cNvSpPr txBox="1"/>
          <p:nvPr/>
        </p:nvSpPr>
        <p:spPr>
          <a:xfrm>
            <a:off x="510733" y="3729037"/>
            <a:ext cx="255219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D2691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Gathering</a:t>
            </a:r>
            <a:endParaRPr lang="en-US" sz="1800" b="1" i="0" u="none" strike="noStrike" cap="none">
              <a:solidFill>
                <a:srgbClr val="D2691E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13" name="Google Shape;213;p22"/>
          <p:cNvSpPr txBox="1"/>
          <p:nvPr/>
        </p:nvSpPr>
        <p:spPr>
          <a:xfrm>
            <a:off x="622300" y="4452937"/>
            <a:ext cx="243066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0A0A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Requirement gathering &amp; analysis.</a:t>
            </a:r>
            <a:endParaRPr lang="en-US" sz="1500" b="0" i="0" u="none" strike="noStrike" cap="none">
              <a:solidFill>
                <a:srgbClr val="A0A0A0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214" name="Google Shape;214;p22"/>
          <p:cNvSpPr/>
          <p:nvPr/>
        </p:nvSpPr>
        <p:spPr>
          <a:xfrm>
            <a:off x="4583310" y="4300537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D2691E"/>
          </a:solidFill>
          <a:ln w="38100" cap="flat" cmpd="sng">
            <a:solidFill>
              <a:srgbClr val="12121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5" name="Google Shape;215;p22"/>
          <p:cNvSpPr txBox="1"/>
          <p:nvPr/>
        </p:nvSpPr>
        <p:spPr>
          <a:xfrm>
            <a:off x="3383413" y="3729037"/>
            <a:ext cx="255219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D2691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Design</a:t>
            </a:r>
            <a:endParaRPr lang="en-US" sz="1800" b="1" i="0" u="none" strike="noStrike" cap="none">
              <a:solidFill>
                <a:srgbClr val="D2691E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16" name="Google Shape;216;p22"/>
          <p:cNvSpPr txBox="1"/>
          <p:nvPr/>
        </p:nvSpPr>
        <p:spPr>
          <a:xfrm>
            <a:off x="3504505" y="4452937"/>
            <a:ext cx="243066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0A0A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Architecture, Class, &amp; DB design.</a:t>
            </a:r>
            <a:endParaRPr lang="en-US" sz="1500" b="0" i="0" u="none" strike="noStrike" cap="none">
              <a:solidFill>
                <a:srgbClr val="A0A0A0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7455991" y="4300537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D2691E"/>
          </a:solidFill>
          <a:ln w="38100" cap="flat" cmpd="sng">
            <a:solidFill>
              <a:srgbClr val="12121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8" name="Google Shape;218;p22"/>
          <p:cNvSpPr txBox="1"/>
          <p:nvPr/>
        </p:nvSpPr>
        <p:spPr>
          <a:xfrm>
            <a:off x="6256094" y="3729037"/>
            <a:ext cx="255219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D2691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Implementation</a:t>
            </a:r>
            <a:endParaRPr lang="en-US" sz="1800" b="1" i="0" u="none" strike="noStrike" cap="none">
              <a:solidFill>
                <a:srgbClr val="D2691E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19" name="Google Shape;219;p22"/>
          <p:cNvSpPr txBox="1"/>
          <p:nvPr/>
        </p:nvSpPr>
        <p:spPr>
          <a:xfrm>
            <a:off x="6347340" y="4452937"/>
            <a:ext cx="243066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0A0A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Iterative coding and unit testing.</a:t>
            </a:r>
            <a:endParaRPr lang="en-US" sz="1500" b="0" i="0" u="none" strike="noStrike" cap="none">
              <a:solidFill>
                <a:srgbClr val="A0A0A0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220" name="Google Shape;220;p22"/>
          <p:cNvSpPr/>
          <p:nvPr/>
        </p:nvSpPr>
        <p:spPr>
          <a:xfrm>
            <a:off x="10328671" y="4300537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D2691E"/>
          </a:solidFill>
          <a:ln w="38100" cap="flat" cmpd="sng">
            <a:solidFill>
              <a:srgbClr val="12121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1" name="Google Shape;221;p22"/>
          <p:cNvSpPr txBox="1"/>
          <p:nvPr/>
        </p:nvSpPr>
        <p:spPr>
          <a:xfrm>
            <a:off x="9128774" y="3729037"/>
            <a:ext cx="255219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D2691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Reporting</a:t>
            </a:r>
            <a:endParaRPr lang="en-US" sz="1800" b="1" i="0" u="none" strike="noStrike" cap="none">
              <a:solidFill>
                <a:srgbClr val="D2691E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22" name="Google Shape;222;p22"/>
          <p:cNvSpPr txBox="1"/>
          <p:nvPr/>
        </p:nvSpPr>
        <p:spPr>
          <a:xfrm>
            <a:off x="9240341" y="4452937"/>
            <a:ext cx="243066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0A0A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Final documentation &amp; evaluation.</a:t>
            </a:r>
            <a:endParaRPr lang="en-US" sz="1500" b="0" i="0" u="none" strike="noStrike" cap="none">
              <a:solidFill>
                <a:srgbClr val="A0A0A0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223" name="Google Shape;223;p22"/>
          <p:cNvSpPr txBox="1"/>
          <p:nvPr/>
        </p:nvSpPr>
        <p:spPr>
          <a:xfrm>
            <a:off x="762000" y="571500"/>
            <a:ext cx="11401425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5F5D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Adopted Methodology: VU Process Model</a:t>
            </a:r>
            <a:endParaRPr lang="en-US" sz="3300" b="1" i="0" u="none" strike="noStrike" cap="none">
              <a:solidFill>
                <a:srgbClr val="F5F5DC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24" name="Google Shape;224;p22"/>
          <p:cNvSpPr/>
          <p:nvPr/>
        </p:nvSpPr>
        <p:spPr>
          <a:xfrm>
            <a:off x="571500" y="571500"/>
            <a:ext cx="47625" cy="561975"/>
          </a:xfrm>
          <a:prstGeom prst="rect">
            <a:avLst/>
          </a:prstGeom>
          <a:solidFill>
            <a:srgbClr val="D269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3742854" name="Picture 107374285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7810" y="118745"/>
            <a:ext cx="8035290" cy="662051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" name="Group 1"/>
          <p:cNvGrpSpPr/>
          <p:nvPr/>
        </p:nvGrpSpPr>
        <p:grpSpPr>
          <a:xfrm>
            <a:off x="381635" y="2153285"/>
            <a:ext cx="3678555" cy="1905000"/>
            <a:chOff x="1290" y="3608"/>
            <a:chExt cx="5793" cy="3000"/>
          </a:xfrm>
        </p:grpSpPr>
        <p:sp>
          <p:nvSpPr>
            <p:cNvPr id="260" name="Google Shape;260;p25"/>
            <p:cNvSpPr txBox="1"/>
            <p:nvPr/>
          </p:nvSpPr>
          <p:spPr>
            <a:xfrm>
              <a:off x="1290" y="3608"/>
              <a:ext cx="5793" cy="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indent="0" algn="ctr">
                <a:buNone/>
              </a:pPr>
              <a:r>
                <a:rPr lang="en-US" sz="4800" b="1" cap="none">
                  <a:solidFill>
                    <a:srgbClr val="F5F5DC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VU Process Model</a:t>
              </a:r>
              <a:endParaRPr lang="en-US" sz="4800" b="1" cap="none">
                <a:solidFill>
                  <a:srgbClr val="F5F5DC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261" name="Google Shape;261;p25"/>
            <p:cNvSpPr/>
            <p:nvPr/>
          </p:nvSpPr>
          <p:spPr>
            <a:xfrm>
              <a:off x="1290" y="3720"/>
              <a:ext cx="121" cy="2342"/>
            </a:xfrm>
            <a:prstGeom prst="rect">
              <a:avLst/>
            </a:prstGeom>
            <a:solidFill>
              <a:srgbClr val="D2691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5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</p:pic>
      <p:grpSp>
        <p:nvGrpSpPr>
          <p:cNvPr id="2" name="Group 1"/>
          <p:cNvGrpSpPr/>
          <p:nvPr/>
        </p:nvGrpSpPr>
        <p:grpSpPr>
          <a:xfrm>
            <a:off x="619125" y="2291080"/>
            <a:ext cx="3677920" cy="1905000"/>
            <a:chOff x="975" y="3608"/>
            <a:chExt cx="5792" cy="3000"/>
          </a:xfrm>
        </p:grpSpPr>
        <p:sp>
          <p:nvSpPr>
            <p:cNvPr id="260" name="Google Shape;260;p25"/>
            <p:cNvSpPr txBox="1"/>
            <p:nvPr/>
          </p:nvSpPr>
          <p:spPr>
            <a:xfrm>
              <a:off x="975" y="3608"/>
              <a:ext cx="5793" cy="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indent="0" algn="ctr">
                <a:buNone/>
              </a:pPr>
              <a:r>
                <a:rPr lang="en-US" sz="5400" b="1" cap="none">
                  <a:solidFill>
                    <a:srgbClr val="F5F5DC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Use Case</a:t>
              </a:r>
              <a:r>
                <a:rPr lang="en-US" sz="4400" b="1" cap="none">
                  <a:solidFill>
                    <a:srgbClr val="F5F5DC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 Diagram</a:t>
              </a:r>
              <a:endParaRPr lang="en-US" sz="4400" b="1" cap="none">
                <a:solidFill>
                  <a:srgbClr val="F5F5DC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261" name="Google Shape;261;p25"/>
            <p:cNvSpPr/>
            <p:nvPr/>
          </p:nvSpPr>
          <p:spPr>
            <a:xfrm>
              <a:off x="1290" y="3720"/>
              <a:ext cx="121" cy="2342"/>
            </a:xfrm>
            <a:prstGeom prst="rect">
              <a:avLst/>
            </a:prstGeom>
            <a:solidFill>
              <a:srgbClr val="D2691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pic>
        <p:nvPicPr>
          <p:cNvPr id="1073742850" name="Picture 1073742849" descr="Uses Case dia.drawi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925" y="167323"/>
            <a:ext cx="7221220" cy="6522085"/>
          </a:xfrm>
          <a:prstGeom prst="rect">
            <a:avLst/>
          </a:prstGeom>
          <a:noFill/>
          <a:ln w="9525" cap="flat" cmpd="sng">
            <a:noFill/>
            <a:prstDash val="solid"/>
            <a:miter/>
            <a:headEnd type="none" w="med" len="med"/>
            <a:tailEnd type="none" w="med" len="med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8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8"/>
          <p:cNvSpPr/>
          <p:nvPr/>
        </p:nvSpPr>
        <p:spPr>
          <a:xfrm>
            <a:off x="5619750" y="2662237"/>
            <a:ext cx="952500" cy="38100"/>
          </a:xfrm>
          <a:prstGeom prst="rect">
            <a:avLst/>
          </a:prstGeom>
          <a:solidFill>
            <a:srgbClr val="D269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3" name="Google Shape;153;p18"/>
          <p:cNvSpPr txBox="1"/>
          <p:nvPr/>
        </p:nvSpPr>
        <p:spPr>
          <a:xfrm>
            <a:off x="295275" y="2986087"/>
            <a:ext cx="11601450" cy="738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5F5D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Functional Requirements</a:t>
            </a:r>
            <a:endParaRPr lang="en-US" sz="4800" b="1" i="0" u="none" strike="noStrike" cap="none">
              <a:solidFill>
                <a:srgbClr val="F5F5DC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54" name="Google Shape;154;p18"/>
          <p:cNvSpPr txBox="1"/>
          <p:nvPr/>
        </p:nvSpPr>
        <p:spPr>
          <a:xfrm>
            <a:off x="571500" y="3986212"/>
            <a:ext cx="11049000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500" b="0" i="0" u="none" strike="noStrike" cap="none">
                <a:solidFill>
                  <a:srgbClr val="A0A0A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Functional requirements define what the system must do</a:t>
            </a:r>
            <a:endParaRPr lang="en-US" altLang="en-US" sz="1500" b="0" i="0" u="none" strike="noStrike" cap="none">
              <a:solidFill>
                <a:srgbClr val="A0A0A0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7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7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381750" y="199548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 txBox="1"/>
          <p:nvPr/>
        </p:nvSpPr>
        <p:spPr>
          <a:xfrm>
            <a:off x="1047750" y="2147887"/>
            <a:ext cx="4762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2691E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Order Lifecycle:</a:t>
            </a:r>
            <a:r>
              <a:rPr lang="en-US" sz="1500" b="0" i="0" u="none" strike="noStrike" cap="none">
                <a:solidFill>
                  <a:srgbClr val="A0A0A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Track from Pending to Delivery status.</a:t>
            </a:r>
            <a:endParaRPr lang="en-US" sz="1500" b="0" i="0" u="none" strike="noStrike" cap="none">
              <a:solidFill>
                <a:srgbClr val="A0A0A0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37" name="Google Shape;137;p17"/>
          <p:cNvSpPr txBox="1"/>
          <p:nvPr/>
        </p:nvSpPr>
        <p:spPr>
          <a:xfrm>
            <a:off x="1047750" y="2690812"/>
            <a:ext cx="4762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2691E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Inventory Monitoring:</a:t>
            </a:r>
            <a:r>
              <a:rPr lang="en-US" sz="1500" b="0" i="0" u="none" strike="noStrike" cap="none">
                <a:solidFill>
                  <a:srgbClr val="A0A0A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Automatic stock reduction and low-stock alerts.</a:t>
            </a:r>
            <a:endParaRPr lang="en-US" sz="1500" b="0" i="0" u="none" strike="noStrike" cap="none">
              <a:solidFill>
                <a:srgbClr val="A0A0A0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38" name="Google Shape;138;p17"/>
          <p:cNvSpPr txBox="1"/>
          <p:nvPr/>
        </p:nvSpPr>
        <p:spPr>
          <a:xfrm>
            <a:off x="1047750" y="3538537"/>
            <a:ext cx="4762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2691E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Cost Estimation:</a:t>
            </a:r>
            <a:r>
              <a:rPr lang="en-US" sz="1500" b="0" i="0" u="none" strike="noStrike" cap="none">
                <a:solidFill>
                  <a:srgbClr val="A0A0A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Dynamic calculation based on materials and labor.</a:t>
            </a:r>
            <a:endParaRPr lang="en-US" sz="1500" b="0" i="0" u="none" strike="noStrike" cap="none">
              <a:solidFill>
                <a:srgbClr val="A0A0A0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39" name="Google Shape;139;p17"/>
          <p:cNvSpPr txBox="1"/>
          <p:nvPr/>
        </p:nvSpPr>
        <p:spPr>
          <a:xfrm>
            <a:off x="1047750" y="4386262"/>
            <a:ext cx="4762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2691E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Billing:</a:t>
            </a:r>
            <a:r>
              <a:rPr lang="en-US" sz="1500" b="0" i="0" u="none" strike="noStrike" cap="none">
                <a:solidFill>
                  <a:srgbClr val="A0A0A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Auto-generated invoices and payment history.</a:t>
            </a:r>
            <a:endParaRPr lang="en-US" sz="1500" b="0" i="0" u="none" strike="noStrike" cap="none">
              <a:solidFill>
                <a:srgbClr val="A0A0A0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pic>
        <p:nvPicPr>
          <p:cNvPr id="141" name="Google Shape;141;p17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71500" y="2185987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7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71500" y="2728912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7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571500" y="3576637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7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571500" y="4424362"/>
            <a:ext cx="1714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762000" y="571500"/>
            <a:ext cx="11401425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5F5D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Core Functional Requirements</a:t>
            </a:r>
            <a:endParaRPr lang="en-US" sz="3300" b="1" i="0" u="none" strike="noStrike" cap="none">
              <a:solidFill>
                <a:srgbClr val="F5F5DC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571500" y="571500"/>
            <a:ext cx="47625" cy="561975"/>
          </a:xfrm>
          <a:prstGeom prst="rect">
            <a:avLst/>
          </a:prstGeom>
          <a:solidFill>
            <a:srgbClr val="D269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" name="Picture 0"/>
          <p:cNvPicPr/>
          <p:nvPr/>
        </p:nvPicPr>
        <p:blipFill>
          <a:blip r:embed="rId7"/>
          <a:stretch>
            <a:fillRect/>
          </a:stretch>
        </p:blipFill>
        <p:spPr>
          <a:xfrm>
            <a:off x="6381750" y="1995170"/>
            <a:ext cx="5238750" cy="3810635"/>
          </a:xfrm>
          <a:prstGeom prst="rect">
            <a:avLst/>
          </a:prstGeom>
          <a:effectLst>
            <a:softEdge rad="31750"/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3" name="Google Shape;93;p1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94" name="Google Shape;94;p14" descr="image.png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5" name="Google Shape;95;p14" descr="image.png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6334125" y="1900237"/>
              <a:ext cx="5286375" cy="400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6" name="Google Shape;96;p14" descr="image.png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6343650" y="1909762"/>
              <a:ext cx="5267325" cy="39814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" name="Google Shape;97;p14"/>
            <p:cNvSpPr txBox="1"/>
            <p:nvPr/>
          </p:nvSpPr>
          <p:spPr>
            <a:xfrm>
              <a:off x="1000125" y="2376487"/>
              <a:ext cx="4857900" cy="5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i="0" u="none" strike="noStrike" cap="none">
                  <a:solidFill>
                    <a:srgbClr val="F5F5DC"/>
                  </a:solidFill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rPr>
                <a:t>Identity &amp; Profiles:</a:t>
              </a:r>
              <a:r>
                <a:rPr lang="en-US" sz="1500" b="0" i="0" u="none" strike="noStrike" cap="none">
                  <a:solidFill>
                    <a:srgbClr val="A0A0A0"/>
                  </a:solidFill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rPr>
                <a:t> Secure registration, authentication, and full administrative oversight of user accounts.</a:t>
              </a:r>
              <a:endParaRPr lang="en-US" sz="1500" b="0" i="0" u="none" strike="noStrike" cap="none">
                <a:solidFill>
                  <a:srgbClr val="A0A0A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endParaRPr>
            </a:p>
          </p:txBody>
        </p:sp>
        <p:sp>
          <p:nvSpPr>
            <p:cNvPr id="98" name="Google Shape;98;p14"/>
            <p:cNvSpPr txBox="1"/>
            <p:nvPr/>
          </p:nvSpPr>
          <p:spPr>
            <a:xfrm>
              <a:off x="1000125" y="3138487"/>
              <a:ext cx="4857900" cy="5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i="0" u="none" strike="noStrike" cap="none">
                  <a:solidFill>
                    <a:srgbClr val="F5F5DC"/>
                  </a:solidFill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rPr>
                <a:t>Commission Creation:</a:t>
              </a:r>
              <a:r>
                <a:rPr lang="en-US" sz="1500" b="0" i="0" u="none" strike="noStrike" cap="none">
                  <a:solidFill>
                    <a:srgbClr val="A0A0A0"/>
                  </a:solidFill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rPr>
                <a:t> Integrated workflows for furniture orders, repair requests, and custom designs.</a:t>
              </a:r>
              <a:endParaRPr lang="en-US" sz="1500" b="0" i="0" u="none" strike="noStrike" cap="none">
                <a:solidFill>
                  <a:srgbClr val="A0A0A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endParaRPr>
            </a:p>
          </p:txBody>
        </p:sp>
        <p:sp>
          <p:nvSpPr>
            <p:cNvPr id="99" name="Google Shape;99;p14"/>
            <p:cNvSpPr txBox="1"/>
            <p:nvPr/>
          </p:nvSpPr>
          <p:spPr>
            <a:xfrm>
              <a:off x="1000125" y="3900487"/>
              <a:ext cx="4857900" cy="5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i="0" u="none" strike="noStrike" cap="none">
                  <a:solidFill>
                    <a:srgbClr val="F5F5DC"/>
                  </a:solidFill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rPr>
                <a:t>Real-time Tracking:</a:t>
              </a:r>
              <a:r>
                <a:rPr lang="en-US" sz="1500" b="0" i="0" u="none" strike="noStrike" cap="none">
                  <a:solidFill>
                    <a:srgbClr val="A0A0A0"/>
                  </a:solidFill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rPr>
                <a:t> Live order status flow (Pending, In Progress, Delivered) with unique Order ID auditing.</a:t>
              </a:r>
              <a:endParaRPr lang="en-US" sz="1500" b="0" i="0" u="none" strike="noStrike" cap="none">
                <a:solidFill>
                  <a:srgbClr val="A0A0A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endParaRPr>
            </a:p>
          </p:txBody>
        </p:sp>
        <p:sp>
          <p:nvSpPr>
            <p:cNvPr id="100" name="Google Shape;100;p14"/>
            <p:cNvSpPr txBox="1"/>
            <p:nvPr/>
          </p:nvSpPr>
          <p:spPr>
            <a:xfrm>
              <a:off x="1000125" y="4662487"/>
              <a:ext cx="4857900" cy="5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i="0" u="none" strike="noStrike" cap="none">
                  <a:solidFill>
                    <a:srgbClr val="F5F5DC"/>
                  </a:solidFill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rPr>
                <a:t>Intelligent Estimation:</a:t>
              </a:r>
              <a:r>
                <a:rPr lang="en-US" sz="1500" b="0" i="0" u="none" strike="noStrike" cap="none">
                  <a:solidFill>
                    <a:srgbClr val="A0A0A0"/>
                  </a:solidFill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rPr>
                <a:t> Automated cost generation based on live material stock and labor hours.</a:t>
              </a:r>
              <a:endParaRPr lang="en-US" sz="1500" b="0" i="0" u="none" strike="noStrike" cap="none">
                <a:solidFill>
                  <a:srgbClr val="A0A0A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endParaRPr>
            </a:p>
          </p:txBody>
        </p:sp>
        <p:pic>
          <p:nvPicPr>
            <p:cNvPr id="101" name="Google Shape;101;p14" descr="image.png"/>
            <p:cNvPicPr preferRelativeResize="0"/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571500" y="2409825"/>
              <a:ext cx="314325" cy="2571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" name="Google Shape;102;p14" descr="image.png"/>
            <p:cNvPicPr preferRelativeResize="0"/>
            <p:nvPr/>
          </p:nvPicPr>
          <p:blipFill rotWithShape="1">
            <a:blip r:embed="rId5"/>
            <a:srcRect/>
            <a:stretch>
              <a:fillRect/>
            </a:stretch>
          </p:blipFill>
          <p:spPr>
            <a:xfrm>
              <a:off x="571500" y="3171825"/>
              <a:ext cx="247650" cy="2571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" name="Google Shape;103;p14" descr="image.png"/>
            <p:cNvPicPr preferRelativeResize="0"/>
            <p:nvPr/>
          </p:nvPicPr>
          <p:blipFill rotWithShape="1">
            <a:blip r:embed="rId6"/>
            <a:srcRect/>
            <a:stretch>
              <a:fillRect/>
            </a:stretch>
          </p:blipFill>
          <p:spPr>
            <a:xfrm>
              <a:off x="571500" y="3933825"/>
              <a:ext cx="247650" cy="2571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" name="Google Shape;104;p14" descr="image.png"/>
            <p:cNvPicPr preferRelativeResize="0"/>
            <p:nvPr/>
          </p:nvPicPr>
          <p:blipFill rotWithShape="1">
            <a:blip r:embed="rId7"/>
            <a:srcRect/>
            <a:stretch>
              <a:fillRect/>
            </a:stretch>
          </p:blipFill>
          <p:spPr>
            <a:xfrm>
              <a:off x="571500" y="4695825"/>
              <a:ext cx="247650" cy="2571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" name="Google Shape;105;p14"/>
            <p:cNvSpPr txBox="1"/>
            <p:nvPr/>
          </p:nvSpPr>
          <p:spPr>
            <a:xfrm>
              <a:off x="762000" y="571500"/>
              <a:ext cx="11401500" cy="50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300" b="0" i="0" u="none" strike="noStrike" cap="none">
                  <a:solidFill>
                    <a:srgbClr val="F5F5DC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Customer &amp; Order Lifecycle</a:t>
              </a:r>
              <a:endParaRPr lang="en-US" sz="3300" b="0" i="0" u="none" strike="noStrike" cap="none">
                <a:solidFill>
                  <a:srgbClr val="F5F5DC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106" name="Google Shape;106;p14"/>
            <p:cNvSpPr/>
            <p:nvPr/>
          </p:nvSpPr>
          <p:spPr>
            <a:xfrm>
              <a:off x="571500" y="571500"/>
              <a:ext cx="47625" cy="561975"/>
            </a:xfrm>
            <a:prstGeom prst="rect">
              <a:avLst/>
            </a:prstGeom>
            <a:solidFill>
              <a:srgbClr val="D2691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" name="Group 4"/>
          <p:cNvGrpSpPr/>
          <p:nvPr/>
        </p:nvGrpSpPr>
        <p:grpSpPr>
          <a:xfrm>
            <a:off x="0" y="0"/>
            <a:ext cx="12192000" cy="6858000"/>
            <a:chOff x="0" y="0"/>
            <a:chExt cx="19200" cy="10800"/>
          </a:xfrm>
        </p:grpSpPr>
        <p:pic>
          <p:nvPicPr>
            <p:cNvPr id="215" name="Google Shape;215;p23" descr="image.png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0" y="0"/>
              <a:ext cx="19200" cy="10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6" name="Google Shape;216;p23"/>
            <p:cNvSpPr txBox="1"/>
            <p:nvPr/>
          </p:nvSpPr>
          <p:spPr>
            <a:xfrm>
              <a:off x="900" y="900"/>
              <a:ext cx="8190" cy="8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300" b="0" i="0" u="none" strike="noStrike" cap="none">
                  <a:solidFill>
                    <a:srgbClr val="F5F5DC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Employee Portal</a:t>
              </a:r>
              <a:endParaRPr lang="en-US" sz="3300" b="0" i="0" u="none" strike="noStrike" cap="none">
                <a:solidFill>
                  <a:srgbClr val="F5F5DC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217" name="Google Shape;217;p23"/>
            <p:cNvSpPr txBox="1"/>
            <p:nvPr/>
          </p:nvSpPr>
          <p:spPr>
            <a:xfrm>
              <a:off x="900" y="4357"/>
              <a:ext cx="8190" cy="6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>
                  <a:solidFill>
                    <a:srgbClr val="FFB200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Labor &amp; Progress Tracking</a:t>
              </a:r>
              <a:endParaRPr lang="en-US" sz="2400" b="1" i="0" u="none" strike="noStrike" cap="none">
                <a:solidFill>
                  <a:srgbClr val="FFB200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218" name="Google Shape;218;p23"/>
            <p:cNvSpPr txBox="1"/>
            <p:nvPr/>
          </p:nvSpPr>
          <p:spPr>
            <a:xfrm>
              <a:off x="900" y="5497"/>
              <a:ext cx="7800" cy="8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u="none" strike="noStrike" cap="none">
                  <a:solidFill>
                    <a:srgbClr val="A0A0A0"/>
                  </a:solidFill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rPr>
                <a:t>Artisans log in to see their specific assignments. This eliminates verbal instructions and ensures every task is documented.</a:t>
              </a:r>
              <a:endParaRPr lang="en-US" sz="1350" b="0" i="0" u="none" strike="noStrike" cap="none">
                <a:solidFill>
                  <a:srgbClr val="A0A0A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endParaRPr>
            </a:p>
          </p:txBody>
        </p:sp>
        <p:sp>
          <p:nvSpPr>
            <p:cNvPr id="219" name="Google Shape;219;p23"/>
            <p:cNvSpPr txBox="1"/>
            <p:nvPr/>
          </p:nvSpPr>
          <p:spPr>
            <a:xfrm>
              <a:off x="900" y="6847"/>
              <a:ext cx="7800" cy="8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1" i="0" u="none" strike="noStrike" cap="none">
                  <a:solidFill>
                    <a:srgbClr val="A0A0A0"/>
                  </a:solidFill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rPr>
                <a:t>Worklogs:</a:t>
              </a:r>
              <a:r>
                <a:rPr lang="en-US" sz="1350" b="0" i="0" u="none" strike="noStrike" cap="none">
                  <a:solidFill>
                    <a:srgbClr val="A0A0A0"/>
                  </a:solidFill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rPr>
                <a:t> Employees record their hours, which are then used by the system to auto-calculate wages, ensuring fairness and accuracy.</a:t>
              </a:r>
              <a:endParaRPr lang="en-US" sz="1350" b="0" i="0" u="none" strike="noStrike" cap="none">
                <a:solidFill>
                  <a:srgbClr val="A0A0A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endParaRPr>
            </a:p>
          </p:txBody>
        </p:sp>
        <p:pic>
          <p:nvPicPr>
            <p:cNvPr id="220" name="Google Shape;220;p23" descr="image.png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9600" y="0"/>
              <a:ext cx="9600" cy="108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5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571500" y="571500"/>
            <a:ext cx="52006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F5F5D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Inventory Intelligence</a:t>
            </a:r>
            <a:endParaRPr lang="en-US" sz="3300" b="0" i="0" u="none" strike="noStrike" cap="none">
              <a:solidFill>
                <a:srgbClr val="F5F5DC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113" name="Google Shape;113;p15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1000125" y="2771775"/>
            <a:ext cx="4524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5F5DC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Material Catalog:</a:t>
            </a:r>
            <a:r>
              <a:rPr lang="en-US" sz="1500" b="0" i="0" u="none" strike="noStrike" cap="none">
                <a:solidFill>
                  <a:srgbClr val="A0A0A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Tracking wood types, hardware, finishes, and consumables.</a:t>
            </a:r>
            <a:endParaRPr lang="en-US" sz="1500" b="0" i="0" u="none" strike="noStrike" cap="none">
              <a:solidFill>
                <a:srgbClr val="A0A0A0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1000125" y="3533775"/>
            <a:ext cx="4524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5F5DC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Auto-Stock Updates:</a:t>
            </a:r>
            <a:r>
              <a:rPr lang="en-US" sz="1500" b="0" i="0" u="none" strike="noStrike" cap="none">
                <a:solidFill>
                  <a:srgbClr val="A0A0A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Automatic depletion of materials upon assignment to an order.</a:t>
            </a:r>
            <a:endParaRPr lang="en-US" sz="1500" b="0" i="0" u="none" strike="noStrike" cap="none">
              <a:solidFill>
                <a:srgbClr val="A0A0A0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1000125" y="4295775"/>
            <a:ext cx="4524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5F5DC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Low-Stock Awareness:</a:t>
            </a:r>
            <a:r>
              <a:rPr lang="en-US" sz="1500" b="0" i="0" u="none" strike="noStrike" cap="none">
                <a:solidFill>
                  <a:srgbClr val="A0A0A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Real-time alerts when inventory falls below minimum thresholds.</a:t>
            </a:r>
            <a:endParaRPr lang="en-US" sz="1500" b="0" i="0" u="none" strike="noStrike" cap="none">
              <a:solidFill>
                <a:srgbClr val="A0A0A0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pic>
        <p:nvPicPr>
          <p:cNvPr id="117" name="Google Shape;117;p15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71500" y="2805112"/>
            <a:ext cx="27622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71500" y="3567112"/>
            <a:ext cx="27622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571500" y="4329112"/>
            <a:ext cx="219075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6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6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2309812"/>
            <a:ext cx="3492549" cy="318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349799" y="2309812"/>
            <a:ext cx="3492549" cy="318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128099" y="2309812"/>
            <a:ext cx="3492549" cy="3181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952500" y="3424237"/>
            <a:ext cx="2867077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5F5D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Admin</a:t>
            </a:r>
            <a:endParaRPr lang="en-US" sz="2100" b="1" i="0" u="none" strike="noStrike" cap="none">
              <a:solidFill>
                <a:srgbClr val="F5F5DC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20" name="Google Shape;120;p16"/>
          <p:cNvSpPr txBox="1"/>
          <p:nvPr/>
        </p:nvSpPr>
        <p:spPr>
          <a:xfrm>
            <a:off x="952500" y="3967162"/>
            <a:ext cx="27305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0A0A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Full control over users, approvals, inventory, and comprehensive financial reports.</a:t>
            </a:r>
            <a:endParaRPr lang="en-US" sz="1500" b="0" i="0" u="none" strike="noStrike" cap="none">
              <a:solidFill>
                <a:srgbClr val="A0A0A0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21" name="Google Shape;121;p16"/>
          <p:cNvSpPr txBox="1"/>
          <p:nvPr/>
        </p:nvSpPr>
        <p:spPr>
          <a:xfrm>
            <a:off x="4730799" y="3424237"/>
            <a:ext cx="2867077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5F5D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Customer</a:t>
            </a:r>
            <a:endParaRPr lang="en-US" sz="2100" b="1" i="0" u="none" strike="noStrike" cap="none">
              <a:solidFill>
                <a:srgbClr val="F5F5DC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22" name="Google Shape;122;p16"/>
          <p:cNvSpPr txBox="1"/>
          <p:nvPr/>
        </p:nvSpPr>
        <p:spPr>
          <a:xfrm>
            <a:off x="4730799" y="3967162"/>
            <a:ext cx="27305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0A0A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Places commissions, tracks order progress in real-time, and manages billing/receipts.</a:t>
            </a:r>
            <a:endParaRPr lang="en-US" sz="1500" b="0" i="0" u="none" strike="noStrike" cap="none">
              <a:solidFill>
                <a:srgbClr val="A0A0A0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23" name="Google Shape;123;p16"/>
          <p:cNvSpPr txBox="1"/>
          <p:nvPr/>
        </p:nvSpPr>
        <p:spPr>
          <a:xfrm>
            <a:off x="8509099" y="3424237"/>
            <a:ext cx="2867077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5F5D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Employee</a:t>
            </a:r>
            <a:endParaRPr lang="en-US" sz="2100" b="1" i="0" u="none" strike="noStrike" cap="none">
              <a:solidFill>
                <a:srgbClr val="F5F5DC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24" name="Google Shape;124;p16"/>
          <p:cNvSpPr txBox="1"/>
          <p:nvPr/>
        </p:nvSpPr>
        <p:spPr>
          <a:xfrm>
            <a:off x="8509099" y="3967162"/>
            <a:ext cx="27305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0A0A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Views assigned tasks, logs daily work hours, and tracks wage calculations.</a:t>
            </a:r>
            <a:endParaRPr lang="en-US" sz="1500" b="0" i="0" u="none" strike="noStrike" cap="none">
              <a:solidFill>
                <a:srgbClr val="A0A0A0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pic>
        <p:nvPicPr>
          <p:cNvPr id="125" name="Google Shape;125;p16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952500" y="2738437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4730799" y="2738437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8509099" y="2738437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762000" y="571500"/>
            <a:ext cx="11401425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5F5D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User Role Framework</a:t>
            </a:r>
            <a:endParaRPr lang="en-US" sz="3300" b="1" i="0" u="none" strike="noStrike" cap="none">
              <a:solidFill>
                <a:srgbClr val="F5F5DC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571500" y="571500"/>
            <a:ext cx="47625" cy="561975"/>
          </a:xfrm>
          <a:prstGeom prst="rect">
            <a:avLst/>
          </a:prstGeom>
          <a:solidFill>
            <a:srgbClr val="D269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5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</p:pic>
      <p:sp>
        <p:nvSpPr>
          <p:cNvPr id="260" name="Google Shape;260;p25"/>
          <p:cNvSpPr txBox="1"/>
          <p:nvPr/>
        </p:nvSpPr>
        <p:spPr>
          <a:xfrm>
            <a:off x="819150" y="2362200"/>
            <a:ext cx="3678555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ctr">
              <a:buNone/>
            </a:pPr>
            <a:r>
              <a:rPr lang="en-US" sz="4400" b="1">
                <a:solidFill>
                  <a:srgbClr val="F5F5DC"/>
                </a:solidFill>
                <a:latin typeface="Playfair Display"/>
                <a:ea typeface="Playfair Display"/>
                <a:cs typeface="Playfair Display"/>
                <a:sym typeface="+mn-ea"/>
              </a:rPr>
              <a:t>Architecture</a:t>
            </a:r>
            <a:r>
              <a:rPr lang="en-US" sz="4400" b="1" cap="none">
                <a:solidFill>
                  <a:srgbClr val="F5F5D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Diagram</a:t>
            </a:r>
            <a:endParaRPr lang="en-US" sz="4400" b="1" cap="none">
              <a:solidFill>
                <a:srgbClr val="F5F5DC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61" name="Google Shape;261;p25"/>
          <p:cNvSpPr/>
          <p:nvPr/>
        </p:nvSpPr>
        <p:spPr>
          <a:xfrm>
            <a:off x="819150" y="2362200"/>
            <a:ext cx="76835" cy="1487170"/>
          </a:xfrm>
          <a:prstGeom prst="rect">
            <a:avLst/>
          </a:prstGeom>
          <a:solidFill>
            <a:srgbClr val="D269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1073742863" name="Group 1073742862"/>
          <p:cNvGrpSpPr/>
          <p:nvPr/>
        </p:nvGrpSpPr>
        <p:grpSpPr>
          <a:xfrm>
            <a:off x="6419963" y="328295"/>
            <a:ext cx="5067822" cy="6191250"/>
            <a:chOff x="4493" y="228277"/>
            <a:chExt cx="9709" cy="11367"/>
          </a:xfrm>
        </p:grpSpPr>
        <p:pic>
          <p:nvPicPr>
            <p:cNvPr id="1073742861" name="Picture 107374286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94" y="228277"/>
              <a:ext cx="9708" cy="774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073742862" name="Picture 107374286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93" y="235993"/>
              <a:ext cx="9709" cy="3651"/>
            </a:xfrm>
            <a:prstGeom prst="rect">
              <a:avLst/>
            </a:prstGeom>
            <a:noFill/>
            <a:ln w="9525">
              <a:noFill/>
            </a:ln>
          </p:spPr>
        </p:pic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" name="Group 3"/>
          <p:cNvGrpSpPr/>
          <p:nvPr/>
        </p:nvGrpSpPr>
        <p:grpSpPr>
          <a:xfrm>
            <a:off x="0" y="0"/>
            <a:ext cx="12192000" cy="6858000"/>
            <a:chOff x="0" y="0"/>
            <a:chExt cx="19200" cy="10800"/>
          </a:xfrm>
        </p:grpSpPr>
        <p:pic>
          <p:nvPicPr>
            <p:cNvPr id="5" name="Google Shape;124;p16" descr="image.png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0" y="0"/>
              <a:ext cx="19200" cy="10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5" name="Google Shape;125;p16" descr="image.png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900" y="3422"/>
              <a:ext cx="5500" cy="563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6" name="Google Shape;126;p16" descr="image.png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6850" y="3422"/>
              <a:ext cx="5500" cy="563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7" name="Google Shape;127;p16" descr="image.png"/>
            <p:cNvPicPr preferRelativeResize="0"/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12800" y="3422"/>
              <a:ext cx="5500" cy="563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" name="Google Shape;128;p16"/>
            <p:cNvSpPr txBox="1"/>
            <p:nvPr/>
          </p:nvSpPr>
          <p:spPr>
            <a:xfrm>
              <a:off x="1392" y="5252"/>
              <a:ext cx="4515" cy="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5" b="1" i="0" u="none" strike="noStrike" cap="none">
                  <a:solidFill>
                    <a:srgbClr val="F5F5DC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Technical Lead</a:t>
              </a:r>
              <a:endParaRPr lang="en-US" sz="1405" b="1" i="0" u="none" strike="noStrike" cap="none">
                <a:solidFill>
                  <a:srgbClr val="F5F5DC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129" name="Google Shape;129;p16"/>
            <p:cNvSpPr txBox="1"/>
            <p:nvPr/>
          </p:nvSpPr>
          <p:spPr>
            <a:xfrm>
              <a:off x="1500" y="5957"/>
              <a:ext cx="4300" cy="21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A0A0A0"/>
                  </a:solidFill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rPr>
                <a:t>Developing the core logic with React 18 and Node.js, ensuring a seamless full-stack integration.</a:t>
              </a:r>
              <a:endParaRPr lang="en-US" sz="1650" b="0" i="0" u="none" strike="noStrike" cap="none">
                <a:solidFill>
                  <a:srgbClr val="A0A0A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endParaRPr>
            </a:p>
          </p:txBody>
        </p:sp>
        <p:sp>
          <p:nvSpPr>
            <p:cNvPr id="130" name="Google Shape;130;p16"/>
            <p:cNvSpPr txBox="1"/>
            <p:nvPr/>
          </p:nvSpPr>
          <p:spPr>
            <a:xfrm>
              <a:off x="7343" y="5252"/>
              <a:ext cx="4515" cy="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5" b="1" i="0" u="none" strike="noStrike" cap="none">
                  <a:solidFill>
                    <a:srgbClr val="F5F5DC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Database Architect</a:t>
              </a:r>
              <a:endParaRPr lang="en-US" sz="1405" b="1" i="0" u="none" strike="noStrike" cap="none">
                <a:solidFill>
                  <a:srgbClr val="F5F5DC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131" name="Google Shape;131;p16"/>
            <p:cNvSpPr txBox="1"/>
            <p:nvPr/>
          </p:nvSpPr>
          <p:spPr>
            <a:xfrm>
              <a:off x="7450" y="5957"/>
              <a:ext cx="4300" cy="21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A0A0A0"/>
                  </a:solidFill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rPr>
                <a:t>Designing MySQL relational structures for persistence, integrity, and complex billing queries.</a:t>
              </a:r>
              <a:endParaRPr lang="en-US" sz="1650" b="0" i="0" u="none" strike="noStrike" cap="none">
                <a:solidFill>
                  <a:srgbClr val="A0A0A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endParaRPr>
            </a:p>
          </p:txBody>
        </p:sp>
        <p:sp>
          <p:nvSpPr>
            <p:cNvPr id="132" name="Google Shape;132;p16"/>
            <p:cNvSpPr txBox="1"/>
            <p:nvPr/>
          </p:nvSpPr>
          <p:spPr>
            <a:xfrm>
              <a:off x="13293" y="5252"/>
              <a:ext cx="4515" cy="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5" b="1" i="0" u="none" strike="noStrike" cap="none">
                  <a:solidFill>
                    <a:srgbClr val="F5F5DC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UI/UX Designer</a:t>
              </a:r>
              <a:endParaRPr lang="en-US" sz="1405" b="1" i="0" u="none" strike="noStrike" cap="none">
                <a:solidFill>
                  <a:srgbClr val="F5F5DC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133" name="Google Shape;133;p16"/>
            <p:cNvSpPr txBox="1"/>
            <p:nvPr/>
          </p:nvSpPr>
          <p:spPr>
            <a:xfrm>
              <a:off x="13400" y="5957"/>
              <a:ext cx="4300" cy="21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A0A0A0"/>
                  </a:solidFill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rPr>
                <a:t>Crafting role-aware interfaces using Tailwind CSS and shadcn/ui for intuitive workshop management.</a:t>
              </a:r>
              <a:endParaRPr lang="en-US" sz="1650" b="0" i="0" u="none" strike="noStrike" cap="none">
                <a:solidFill>
                  <a:srgbClr val="A0A0A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endParaRPr>
            </a:p>
          </p:txBody>
        </p:sp>
        <p:pic>
          <p:nvPicPr>
            <p:cNvPr id="134" name="Google Shape;134;p16" descr="image.png"/>
            <p:cNvPicPr preferRelativeResize="0"/>
            <p:nvPr/>
          </p:nvPicPr>
          <p:blipFill rotWithShape="1">
            <a:blip r:embed="rId5"/>
            <a:srcRect/>
            <a:stretch>
              <a:fillRect/>
            </a:stretch>
          </p:blipFill>
          <p:spPr>
            <a:xfrm>
              <a:off x="3200" y="4097"/>
              <a:ext cx="900" cy="7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5" name="Google Shape;135;p16" descr="image.png"/>
            <p:cNvPicPr preferRelativeResize="0"/>
            <p:nvPr/>
          </p:nvPicPr>
          <p:blipFill rotWithShape="1">
            <a:blip r:embed="rId6"/>
            <a:srcRect/>
            <a:stretch>
              <a:fillRect/>
            </a:stretch>
          </p:blipFill>
          <p:spPr>
            <a:xfrm>
              <a:off x="9285" y="4097"/>
              <a:ext cx="630" cy="7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" name="Google Shape;136;p16" descr="image.png"/>
            <p:cNvPicPr preferRelativeResize="0"/>
            <p:nvPr/>
          </p:nvPicPr>
          <p:blipFill rotWithShape="1">
            <a:blip r:embed="rId7"/>
            <a:srcRect/>
            <a:stretch>
              <a:fillRect/>
            </a:stretch>
          </p:blipFill>
          <p:spPr>
            <a:xfrm>
              <a:off x="15100" y="4097"/>
              <a:ext cx="900" cy="7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" name="Google Shape;137;p16"/>
            <p:cNvSpPr txBox="1"/>
            <p:nvPr/>
          </p:nvSpPr>
          <p:spPr>
            <a:xfrm>
              <a:off x="1275" y="900"/>
              <a:ext cx="17876" cy="9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450" b="1" i="0" u="none" strike="noStrike" cap="none">
                  <a:solidFill>
                    <a:srgbClr val="F5F5DC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Single Developer Framework</a:t>
              </a:r>
              <a:endParaRPr lang="en-US" sz="3450" b="1" i="0" u="none" strike="noStrike" cap="none">
                <a:solidFill>
                  <a:srgbClr val="F5F5DC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138" name="Google Shape;138;p16"/>
            <p:cNvSpPr/>
            <p:nvPr/>
          </p:nvSpPr>
          <p:spPr>
            <a:xfrm>
              <a:off x="900" y="900"/>
              <a:ext cx="90" cy="930"/>
            </a:xfrm>
            <a:prstGeom prst="rect">
              <a:avLst/>
            </a:prstGeom>
            <a:solidFill>
              <a:srgbClr val="D2691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5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/>
          <p:cNvGrpSpPr/>
          <p:nvPr/>
        </p:nvGrpSpPr>
        <p:grpSpPr>
          <a:xfrm>
            <a:off x="595630" y="530860"/>
            <a:ext cx="11595735" cy="561340"/>
            <a:chOff x="938" y="836"/>
            <a:chExt cx="18261" cy="884"/>
          </a:xfrm>
        </p:grpSpPr>
        <p:sp>
          <p:nvSpPr>
            <p:cNvPr id="260" name="Google Shape;260;p25"/>
            <p:cNvSpPr txBox="1"/>
            <p:nvPr/>
          </p:nvSpPr>
          <p:spPr>
            <a:xfrm>
              <a:off x="1245" y="836"/>
              <a:ext cx="17955" cy="7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indent="0">
                <a:buNone/>
              </a:pPr>
              <a:r>
                <a:rPr lang="en-US" sz="3300" b="1" cap="none">
                  <a:solidFill>
                    <a:srgbClr val="F5F5DC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Project  </a:t>
              </a:r>
              <a:r>
                <a:rPr lang="en-US" sz="3300" b="1">
                  <a:solidFill>
                    <a:srgbClr val="F5F5DC"/>
                  </a:solidFill>
                  <a:latin typeface="Playfair Display"/>
                  <a:ea typeface="Playfair Display"/>
                  <a:cs typeface="Playfair Display"/>
                  <a:sym typeface="+mn-ea"/>
                </a:rPr>
                <a:t>Schedule (Gantt Chart)</a:t>
              </a:r>
              <a:endParaRPr lang="en-US" sz="3300" b="1" cap="none">
                <a:solidFill>
                  <a:srgbClr val="F5F5DC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261" name="Google Shape;261;p25"/>
            <p:cNvSpPr/>
            <p:nvPr/>
          </p:nvSpPr>
          <p:spPr>
            <a:xfrm>
              <a:off x="938" y="836"/>
              <a:ext cx="75" cy="885"/>
            </a:xfrm>
            <a:prstGeom prst="rect">
              <a:avLst/>
            </a:prstGeom>
            <a:solidFill>
              <a:srgbClr val="D2691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pic>
        <p:nvPicPr>
          <p:cNvPr id="1073742851" name="image2.png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595630" y="1412875"/>
            <a:ext cx="10452735" cy="527367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/>
          <p:nvPr/>
        </p:nvSpPr>
        <p:spPr>
          <a:xfrm>
            <a:off x="5619750" y="2662237"/>
            <a:ext cx="952500" cy="38100"/>
          </a:xfrm>
          <a:prstGeom prst="rect">
            <a:avLst/>
          </a:prstGeom>
          <a:solidFill>
            <a:srgbClr val="D269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2974022"/>
            <a:ext cx="11601450" cy="738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indent="0">
              <a:buNone/>
            </a:pPr>
            <a:r>
              <a:rPr lang="en-US" sz="4800" b="1">
                <a:solidFill>
                  <a:srgbClr val="F5F5DC"/>
                </a:solidFill>
                <a:latin typeface="Playfair Display"/>
                <a:ea typeface="Playfair Display"/>
                <a:cs typeface="Playfair Display"/>
                <a:sym typeface="+mn-ea"/>
              </a:rPr>
              <a:t>      Sequence Diagrams of each Case</a:t>
            </a:r>
            <a:endParaRPr lang="en-US" sz="4800" b="1" i="0" u="none" strike="noStrike" cap="none">
              <a:solidFill>
                <a:srgbClr val="F5F5DC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3986212"/>
            <a:ext cx="11049000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500" b="0" i="0" u="none" strike="noStrike" cap="none">
                <a:solidFill>
                  <a:srgbClr val="A0A0A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Sequence diagrams depict how system components interact over time to complete a particular use case.</a:t>
            </a:r>
            <a:endParaRPr lang="en-US" altLang="en-US" sz="1500" b="0" i="0" u="none" strike="noStrike" cap="none">
              <a:solidFill>
                <a:srgbClr val="A0A0A0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5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5"/>
          <p:cNvSpPr txBox="1"/>
          <p:nvPr/>
        </p:nvSpPr>
        <p:spPr>
          <a:xfrm>
            <a:off x="790575" y="530860"/>
            <a:ext cx="11401425" cy="507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indent="0">
              <a:buNone/>
            </a:pPr>
            <a:r>
              <a:rPr lang="en-US" sz="3300" b="1">
                <a:solidFill>
                  <a:srgbClr val="F5F5DC"/>
                </a:solidFill>
                <a:latin typeface="Playfair Display"/>
                <a:ea typeface="Playfair Display"/>
                <a:cs typeface="Playfair Display"/>
                <a:sym typeface="+mn-ea"/>
              </a:rPr>
              <a:t>Sequence diagrams </a:t>
            </a:r>
            <a:r>
              <a:rPr lang="en-US" sz="2400" b="1">
                <a:solidFill>
                  <a:srgbClr val="F5F5DC"/>
                </a:solidFill>
                <a:latin typeface="Playfair Display"/>
                <a:ea typeface="Playfair Display"/>
                <a:cs typeface="Playfair Display"/>
                <a:sym typeface="+mn-ea"/>
              </a:rPr>
              <a:t>(Login/Register)</a:t>
            </a:r>
            <a:endParaRPr lang="en-US" sz="2400" b="1" cap="none">
              <a:solidFill>
                <a:srgbClr val="F5F5DC"/>
              </a:solidFill>
              <a:latin typeface="Playfair Display"/>
              <a:ea typeface="Playfair Display"/>
              <a:cs typeface="Playfair Display"/>
              <a:sym typeface="+mn-ea"/>
            </a:endParaRPr>
          </a:p>
        </p:txBody>
      </p:sp>
      <p:sp>
        <p:nvSpPr>
          <p:cNvPr id="261" name="Google Shape;261;p25"/>
          <p:cNvSpPr/>
          <p:nvPr/>
        </p:nvSpPr>
        <p:spPr>
          <a:xfrm>
            <a:off x="595630" y="530860"/>
            <a:ext cx="47625" cy="561975"/>
          </a:xfrm>
          <a:prstGeom prst="rect">
            <a:avLst/>
          </a:prstGeom>
          <a:solidFill>
            <a:srgbClr val="D269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073742857" name="Picture 10737428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445" y="1795780"/>
            <a:ext cx="8537575" cy="436499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5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</p:pic>
      <p:sp>
        <p:nvSpPr>
          <p:cNvPr id="260" name="Google Shape;260;p25"/>
          <p:cNvSpPr txBox="1"/>
          <p:nvPr/>
        </p:nvSpPr>
        <p:spPr>
          <a:xfrm>
            <a:off x="819150" y="2512060"/>
            <a:ext cx="5601970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ctr">
              <a:buNone/>
            </a:pPr>
            <a:r>
              <a:rPr lang="en-US" sz="4400" b="1">
                <a:solidFill>
                  <a:srgbClr val="F5F5DC"/>
                </a:solidFill>
                <a:latin typeface="Playfair Display"/>
                <a:ea typeface="Playfair Display"/>
                <a:cs typeface="Playfair Display"/>
                <a:sym typeface="+mn-ea"/>
              </a:rPr>
              <a:t>Sequence diagrams </a:t>
            </a:r>
            <a:r>
              <a:rPr lang="en-US" sz="2400" b="1">
                <a:solidFill>
                  <a:srgbClr val="F5F5DC"/>
                </a:solidFill>
                <a:latin typeface="Playfair Display"/>
                <a:ea typeface="Playfair Display"/>
                <a:cs typeface="Playfair Display"/>
                <a:sym typeface="+mn-ea"/>
              </a:rPr>
              <a:t>(Customer Initiates order)</a:t>
            </a:r>
            <a:endParaRPr lang="en-US" sz="2400" b="1" cap="none">
              <a:solidFill>
                <a:srgbClr val="F5F5DC"/>
              </a:solidFill>
              <a:latin typeface="Playfair Display"/>
              <a:ea typeface="Playfair Display"/>
              <a:cs typeface="Playfair Display"/>
              <a:sym typeface="+mn-ea"/>
            </a:endParaRPr>
          </a:p>
        </p:txBody>
      </p:sp>
      <p:sp>
        <p:nvSpPr>
          <p:cNvPr id="261" name="Google Shape;261;p25"/>
          <p:cNvSpPr/>
          <p:nvPr/>
        </p:nvSpPr>
        <p:spPr>
          <a:xfrm>
            <a:off x="819150" y="2362200"/>
            <a:ext cx="76835" cy="1487170"/>
          </a:xfrm>
          <a:prstGeom prst="rect">
            <a:avLst/>
          </a:prstGeom>
          <a:solidFill>
            <a:srgbClr val="D269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-2147482614" name="Picture -2147482615" descr="create order and cos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2155" y="71755"/>
            <a:ext cx="5038725" cy="678624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5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</p:pic>
      <p:sp>
        <p:nvSpPr>
          <p:cNvPr id="260" name="Google Shape;260;p25"/>
          <p:cNvSpPr txBox="1"/>
          <p:nvPr/>
        </p:nvSpPr>
        <p:spPr>
          <a:xfrm>
            <a:off x="819150" y="2512060"/>
            <a:ext cx="5601970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ctr">
              <a:buNone/>
            </a:pPr>
            <a:r>
              <a:rPr lang="en-US" sz="4400" b="1">
                <a:solidFill>
                  <a:srgbClr val="F5F5DC"/>
                </a:solidFill>
                <a:latin typeface="Playfair Display"/>
                <a:ea typeface="Playfair Display"/>
                <a:cs typeface="Playfair Display"/>
                <a:sym typeface="+mn-ea"/>
              </a:rPr>
              <a:t>Sequence diagrams </a:t>
            </a:r>
            <a:r>
              <a:rPr lang="en-US" sz="2400" b="1">
                <a:solidFill>
                  <a:srgbClr val="F5F5DC"/>
                </a:solidFill>
                <a:latin typeface="Playfair Display"/>
                <a:ea typeface="Playfair Display"/>
                <a:cs typeface="Playfair Display"/>
                <a:sym typeface="+mn-ea"/>
              </a:rPr>
              <a:t>(</a:t>
            </a:r>
            <a:r>
              <a:rPr lang="en-US" altLang="en-US" sz="2400" b="1">
                <a:solidFill>
                  <a:srgbClr val="F5F5DC"/>
                </a:solidFill>
                <a:latin typeface="Playfair Display"/>
                <a:ea typeface="Playfair Display"/>
                <a:cs typeface="Playfair Display"/>
                <a:sym typeface="+mn-ea"/>
              </a:rPr>
              <a:t>Admin Order Processing</a:t>
            </a:r>
            <a:r>
              <a:rPr lang="en-US" sz="2400" b="1">
                <a:solidFill>
                  <a:srgbClr val="F5F5DC"/>
                </a:solidFill>
                <a:latin typeface="Playfair Display"/>
                <a:ea typeface="Playfair Display"/>
                <a:cs typeface="Playfair Display"/>
                <a:sym typeface="+mn-ea"/>
              </a:rPr>
              <a:t>)</a:t>
            </a:r>
            <a:endParaRPr lang="en-US" sz="2400" b="1" cap="none">
              <a:solidFill>
                <a:srgbClr val="F5F5DC"/>
              </a:solidFill>
              <a:latin typeface="Playfair Display"/>
              <a:ea typeface="Playfair Display"/>
              <a:cs typeface="Playfair Display"/>
              <a:sym typeface="+mn-ea"/>
            </a:endParaRPr>
          </a:p>
        </p:txBody>
      </p:sp>
      <p:sp>
        <p:nvSpPr>
          <p:cNvPr id="261" name="Google Shape;261;p25"/>
          <p:cNvSpPr/>
          <p:nvPr/>
        </p:nvSpPr>
        <p:spPr>
          <a:xfrm>
            <a:off x="819150" y="2362200"/>
            <a:ext cx="76835" cy="1487170"/>
          </a:xfrm>
          <a:prstGeom prst="rect">
            <a:avLst/>
          </a:prstGeom>
          <a:solidFill>
            <a:srgbClr val="D269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-2147482613" name="Picture -2147482614" descr="admi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230" y="21590"/>
            <a:ext cx="5200015" cy="68364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5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</p:pic>
      <p:sp>
        <p:nvSpPr>
          <p:cNvPr id="260" name="Google Shape;260;p25"/>
          <p:cNvSpPr txBox="1"/>
          <p:nvPr/>
        </p:nvSpPr>
        <p:spPr>
          <a:xfrm>
            <a:off x="819150" y="2512060"/>
            <a:ext cx="5601970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ctr">
              <a:buNone/>
            </a:pPr>
            <a:r>
              <a:rPr lang="en-US" sz="4400" b="1">
                <a:solidFill>
                  <a:srgbClr val="F5F5DC"/>
                </a:solidFill>
                <a:latin typeface="Playfair Display"/>
                <a:ea typeface="Playfair Display"/>
                <a:cs typeface="Playfair Display"/>
                <a:sym typeface="+mn-ea"/>
              </a:rPr>
              <a:t>Sequence diagrams </a:t>
            </a:r>
            <a:r>
              <a:rPr lang="en-US" sz="2400" b="1">
                <a:solidFill>
                  <a:srgbClr val="F5F5DC"/>
                </a:solidFill>
                <a:latin typeface="Playfair Display"/>
                <a:ea typeface="Playfair Display"/>
                <a:cs typeface="Playfair Display"/>
                <a:sym typeface="+mn-ea"/>
              </a:rPr>
              <a:t>(Employee’s Order)</a:t>
            </a:r>
            <a:endParaRPr lang="en-US" sz="2400" b="1" cap="none">
              <a:solidFill>
                <a:srgbClr val="F5F5DC"/>
              </a:solidFill>
              <a:latin typeface="Playfair Display"/>
              <a:ea typeface="Playfair Display"/>
              <a:cs typeface="Playfair Display"/>
              <a:sym typeface="+mn-ea"/>
            </a:endParaRPr>
          </a:p>
        </p:txBody>
      </p:sp>
      <p:sp>
        <p:nvSpPr>
          <p:cNvPr id="261" name="Google Shape;261;p25"/>
          <p:cNvSpPr/>
          <p:nvPr/>
        </p:nvSpPr>
        <p:spPr>
          <a:xfrm>
            <a:off x="819150" y="2362200"/>
            <a:ext cx="76835" cy="1487170"/>
          </a:xfrm>
          <a:prstGeom prst="rect">
            <a:avLst/>
          </a:prstGeom>
          <a:solidFill>
            <a:srgbClr val="D269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-2147482612" name="Picture -2147482613" descr="employe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1155" y="139700"/>
            <a:ext cx="5186045" cy="6578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5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</p:pic>
      <p:sp>
        <p:nvSpPr>
          <p:cNvPr id="260" name="Google Shape;260;p25"/>
          <p:cNvSpPr txBox="1"/>
          <p:nvPr/>
        </p:nvSpPr>
        <p:spPr>
          <a:xfrm>
            <a:off x="819150" y="2512060"/>
            <a:ext cx="5601970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ctr">
              <a:buNone/>
            </a:pPr>
            <a:r>
              <a:rPr lang="en-US" sz="4400" b="1">
                <a:solidFill>
                  <a:srgbClr val="F5F5DC"/>
                </a:solidFill>
                <a:latin typeface="Playfair Display"/>
                <a:ea typeface="Playfair Display"/>
                <a:cs typeface="Playfair Display"/>
                <a:sym typeface="+mn-ea"/>
              </a:rPr>
              <a:t>Sequence diagrams </a:t>
            </a:r>
            <a:r>
              <a:rPr lang="en-US" sz="2400" b="1">
                <a:solidFill>
                  <a:srgbClr val="F5F5DC"/>
                </a:solidFill>
                <a:latin typeface="Playfair Display"/>
                <a:ea typeface="Playfair Display"/>
                <a:cs typeface="Playfair Display"/>
                <a:sym typeface="+mn-ea"/>
              </a:rPr>
              <a:t>(Payment by Customer)</a:t>
            </a:r>
            <a:endParaRPr lang="en-US" sz="2400" b="1" cap="none">
              <a:solidFill>
                <a:srgbClr val="F5F5DC"/>
              </a:solidFill>
              <a:latin typeface="Playfair Display"/>
              <a:ea typeface="Playfair Display"/>
              <a:cs typeface="Playfair Display"/>
              <a:sym typeface="+mn-ea"/>
            </a:endParaRPr>
          </a:p>
        </p:txBody>
      </p:sp>
      <p:sp>
        <p:nvSpPr>
          <p:cNvPr id="261" name="Google Shape;261;p25"/>
          <p:cNvSpPr/>
          <p:nvPr/>
        </p:nvSpPr>
        <p:spPr>
          <a:xfrm>
            <a:off x="819150" y="2362200"/>
            <a:ext cx="76835" cy="1487170"/>
          </a:xfrm>
          <a:prstGeom prst="rect">
            <a:avLst/>
          </a:prstGeom>
          <a:solidFill>
            <a:srgbClr val="D269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-2147482611" name="Picture -2147482612" descr="custom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5940" y="162560"/>
            <a:ext cx="5130800" cy="653224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5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</p:pic>
      <p:sp>
        <p:nvSpPr>
          <p:cNvPr id="260" name="Google Shape;260;p25"/>
          <p:cNvSpPr txBox="1"/>
          <p:nvPr/>
        </p:nvSpPr>
        <p:spPr>
          <a:xfrm>
            <a:off x="656590" y="2476500"/>
            <a:ext cx="5601970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ctr">
              <a:buNone/>
            </a:pPr>
            <a:r>
              <a:rPr lang="en-US" sz="4400" b="1">
                <a:solidFill>
                  <a:srgbClr val="F5F5DC"/>
                </a:solidFill>
                <a:latin typeface="Playfair Display"/>
                <a:ea typeface="Playfair Display"/>
                <a:cs typeface="Playfair Display"/>
                <a:sym typeface="+mn-ea"/>
              </a:rPr>
              <a:t>Sequence diagrams </a:t>
            </a:r>
            <a:r>
              <a:rPr lang="en-US" sz="2400" b="1">
                <a:solidFill>
                  <a:srgbClr val="F5F5DC"/>
                </a:solidFill>
                <a:latin typeface="Playfair Display"/>
                <a:ea typeface="Playfair Display"/>
                <a:cs typeface="Playfair Display"/>
                <a:sym typeface="+mn-ea"/>
              </a:rPr>
              <a:t>(Reports generation after payment)</a:t>
            </a:r>
            <a:endParaRPr lang="en-US" sz="2400" b="1" cap="none">
              <a:solidFill>
                <a:srgbClr val="F5F5DC"/>
              </a:solidFill>
              <a:latin typeface="Playfair Display"/>
              <a:ea typeface="Playfair Display"/>
              <a:cs typeface="Playfair Display"/>
              <a:sym typeface="+mn-ea"/>
            </a:endParaRPr>
          </a:p>
        </p:txBody>
      </p:sp>
      <p:sp>
        <p:nvSpPr>
          <p:cNvPr id="261" name="Google Shape;261;p25"/>
          <p:cNvSpPr/>
          <p:nvPr/>
        </p:nvSpPr>
        <p:spPr>
          <a:xfrm>
            <a:off x="819150" y="2362200"/>
            <a:ext cx="76835" cy="1487170"/>
          </a:xfrm>
          <a:prstGeom prst="rect">
            <a:avLst/>
          </a:prstGeom>
          <a:solidFill>
            <a:srgbClr val="D269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-2147482610" name="Picture -2147482611" descr="admin repo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1245" y="553720"/>
            <a:ext cx="5863590" cy="54737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5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</p:pic>
      <p:sp>
        <p:nvSpPr>
          <p:cNvPr id="260" name="Google Shape;260;p25"/>
          <p:cNvSpPr txBox="1"/>
          <p:nvPr/>
        </p:nvSpPr>
        <p:spPr>
          <a:xfrm>
            <a:off x="819150" y="471805"/>
            <a:ext cx="5601970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ctr">
              <a:buNone/>
            </a:pPr>
            <a:r>
              <a:rPr lang="en-US" sz="4400" b="1">
                <a:solidFill>
                  <a:srgbClr val="F5F5DC"/>
                </a:solidFill>
                <a:latin typeface="Playfair Display"/>
                <a:ea typeface="Playfair Display"/>
                <a:cs typeface="Playfair Display"/>
                <a:sym typeface="+mn-ea"/>
              </a:rPr>
              <a:t>Sequence diagrams </a:t>
            </a:r>
            <a:r>
              <a:rPr lang="en-US" sz="2400" b="1">
                <a:solidFill>
                  <a:srgbClr val="F5F5DC"/>
                </a:solidFill>
                <a:latin typeface="Playfair Display"/>
                <a:ea typeface="Playfair Display"/>
                <a:cs typeface="Playfair Display"/>
                <a:sym typeface="+mn-ea"/>
              </a:rPr>
              <a:t>(Logout)</a:t>
            </a:r>
            <a:endParaRPr lang="en-US" sz="2400" b="1" cap="none">
              <a:solidFill>
                <a:srgbClr val="F5F5DC"/>
              </a:solidFill>
              <a:latin typeface="Playfair Display"/>
              <a:ea typeface="Playfair Display"/>
              <a:cs typeface="Playfair Display"/>
              <a:sym typeface="+mn-ea"/>
            </a:endParaRPr>
          </a:p>
        </p:txBody>
      </p:sp>
      <p:sp>
        <p:nvSpPr>
          <p:cNvPr id="261" name="Google Shape;261;p25"/>
          <p:cNvSpPr/>
          <p:nvPr/>
        </p:nvSpPr>
        <p:spPr>
          <a:xfrm>
            <a:off x="819150" y="205105"/>
            <a:ext cx="76835" cy="1487170"/>
          </a:xfrm>
          <a:prstGeom prst="rect">
            <a:avLst/>
          </a:prstGeom>
          <a:solidFill>
            <a:srgbClr val="D269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-2147482609" name="Picture -2147482610" descr="log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1630" y="1895475"/>
            <a:ext cx="7346315" cy="485838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5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5"/>
          <p:cNvSpPr txBox="1"/>
          <p:nvPr/>
        </p:nvSpPr>
        <p:spPr>
          <a:xfrm>
            <a:off x="790575" y="477520"/>
            <a:ext cx="11401425" cy="615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indent="0">
              <a:buNone/>
            </a:pPr>
            <a:r>
              <a:rPr lang="en-US" sz="4000" b="1" cap="none">
                <a:solidFill>
                  <a:srgbClr val="F5F5DC"/>
                </a:solidFill>
                <a:latin typeface="Playfair Display"/>
                <a:ea typeface="Playfair Display"/>
                <a:cs typeface="Playfair Display"/>
                <a:sym typeface="+mn-ea"/>
              </a:rPr>
              <a:t>Class Diagram</a:t>
            </a:r>
            <a:endParaRPr lang="en-US" sz="4000" b="1" cap="none">
              <a:solidFill>
                <a:srgbClr val="F5F5DC"/>
              </a:solidFill>
              <a:latin typeface="Playfair Display"/>
              <a:ea typeface="Playfair Display"/>
              <a:cs typeface="Playfair Display"/>
              <a:sym typeface="+mn-ea"/>
            </a:endParaRPr>
          </a:p>
        </p:txBody>
      </p:sp>
      <p:sp>
        <p:nvSpPr>
          <p:cNvPr id="261" name="Google Shape;261;p25"/>
          <p:cNvSpPr/>
          <p:nvPr/>
        </p:nvSpPr>
        <p:spPr>
          <a:xfrm>
            <a:off x="595630" y="530860"/>
            <a:ext cx="47625" cy="561975"/>
          </a:xfrm>
          <a:prstGeom prst="rect">
            <a:avLst/>
          </a:prstGeom>
          <a:solidFill>
            <a:srgbClr val="D269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073742854" name="Picture 1073742853" descr="class 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6455" y="1421448"/>
            <a:ext cx="7633970" cy="515429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5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5"/>
          <p:cNvSpPr txBox="1"/>
          <p:nvPr/>
        </p:nvSpPr>
        <p:spPr>
          <a:xfrm>
            <a:off x="790575" y="477520"/>
            <a:ext cx="11401425" cy="615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indent="0">
              <a:buNone/>
            </a:pPr>
            <a:r>
              <a:rPr lang="en-US" sz="4000" b="1" cap="none">
                <a:solidFill>
                  <a:srgbClr val="F5F5DC"/>
                </a:solidFill>
                <a:latin typeface="Playfair Display"/>
                <a:ea typeface="Playfair Display"/>
                <a:cs typeface="Playfair Display"/>
                <a:sym typeface="+mn-ea"/>
              </a:rPr>
              <a:t>Class Diagram</a:t>
            </a:r>
            <a:endParaRPr lang="en-US" sz="4000" b="1" cap="none">
              <a:solidFill>
                <a:srgbClr val="F5F5DC"/>
              </a:solidFill>
              <a:latin typeface="Playfair Display"/>
              <a:ea typeface="Playfair Display"/>
              <a:cs typeface="Playfair Display"/>
              <a:sym typeface="+mn-ea"/>
            </a:endParaRPr>
          </a:p>
        </p:txBody>
      </p:sp>
      <p:sp>
        <p:nvSpPr>
          <p:cNvPr id="261" name="Google Shape;261;p25"/>
          <p:cNvSpPr/>
          <p:nvPr/>
        </p:nvSpPr>
        <p:spPr>
          <a:xfrm>
            <a:off x="595630" y="530860"/>
            <a:ext cx="47625" cy="561975"/>
          </a:xfrm>
          <a:prstGeom prst="rect">
            <a:avLst/>
          </a:prstGeom>
          <a:solidFill>
            <a:srgbClr val="D269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073742854" name="Picture 1073742853" descr="class 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6455" y="1421448"/>
            <a:ext cx="7633970" cy="515429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5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</p:pic>
      <p:grpSp>
        <p:nvGrpSpPr>
          <p:cNvPr id="2" name="Group 1"/>
          <p:cNvGrpSpPr/>
          <p:nvPr/>
        </p:nvGrpSpPr>
        <p:grpSpPr>
          <a:xfrm>
            <a:off x="741045" y="2362200"/>
            <a:ext cx="5215255" cy="1905000"/>
            <a:chOff x="1167" y="3720"/>
            <a:chExt cx="8213" cy="3000"/>
          </a:xfrm>
        </p:grpSpPr>
        <p:sp>
          <p:nvSpPr>
            <p:cNvPr id="260" name="Google Shape;260;p25"/>
            <p:cNvSpPr txBox="1"/>
            <p:nvPr/>
          </p:nvSpPr>
          <p:spPr>
            <a:xfrm>
              <a:off x="1167" y="3720"/>
              <a:ext cx="8213" cy="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indent="0" algn="ctr">
                <a:buNone/>
              </a:pPr>
              <a:r>
                <a:rPr lang="en-US" sz="4000" b="1" cap="none">
                  <a:solidFill>
                    <a:srgbClr val="F5F5DC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Entity-Relationship</a:t>
              </a:r>
              <a:r>
                <a:rPr lang="en-US" sz="4400" b="1" cap="none">
                  <a:solidFill>
                    <a:srgbClr val="F5F5DC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 Diagram</a:t>
              </a:r>
              <a:endParaRPr lang="en-US" sz="4400" b="1" cap="none">
                <a:solidFill>
                  <a:srgbClr val="F5F5DC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261" name="Google Shape;261;p25"/>
            <p:cNvSpPr/>
            <p:nvPr/>
          </p:nvSpPr>
          <p:spPr>
            <a:xfrm>
              <a:off x="1290" y="3720"/>
              <a:ext cx="121" cy="2342"/>
            </a:xfrm>
            <a:prstGeom prst="rect">
              <a:avLst/>
            </a:prstGeom>
            <a:solidFill>
              <a:srgbClr val="D2691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pic>
        <p:nvPicPr>
          <p:cNvPr id="1" name="Picture 0" descr="ERD 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2660" y="80645"/>
            <a:ext cx="5703570" cy="66967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5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5"/>
          <p:cNvSpPr txBox="1"/>
          <p:nvPr/>
        </p:nvSpPr>
        <p:spPr>
          <a:xfrm>
            <a:off x="790575" y="304800"/>
            <a:ext cx="11401425" cy="615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indent="0">
              <a:buNone/>
            </a:pPr>
            <a:r>
              <a:rPr lang="en-US" sz="4000" b="1" cap="none">
                <a:solidFill>
                  <a:srgbClr val="F5F5DC"/>
                </a:solidFill>
                <a:latin typeface="Playfair Display"/>
                <a:ea typeface="Playfair Display"/>
                <a:cs typeface="Playfair Display"/>
                <a:sym typeface="+mn-ea"/>
              </a:rPr>
              <a:t>Database Diagram</a:t>
            </a:r>
            <a:endParaRPr lang="en-US" sz="4000" b="1" cap="none">
              <a:solidFill>
                <a:srgbClr val="F5F5DC"/>
              </a:solidFill>
              <a:latin typeface="Playfair Display"/>
              <a:ea typeface="Playfair Display"/>
              <a:cs typeface="Playfair Display"/>
              <a:sym typeface="+mn-ea"/>
            </a:endParaRPr>
          </a:p>
        </p:txBody>
      </p:sp>
      <p:sp>
        <p:nvSpPr>
          <p:cNvPr id="261" name="Google Shape;261;p25"/>
          <p:cNvSpPr/>
          <p:nvPr/>
        </p:nvSpPr>
        <p:spPr>
          <a:xfrm>
            <a:off x="595630" y="304800"/>
            <a:ext cx="47625" cy="561975"/>
          </a:xfrm>
          <a:prstGeom prst="rect">
            <a:avLst/>
          </a:prstGeom>
          <a:solidFill>
            <a:srgbClr val="D269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073742856" name="Picture 107374285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1690" y="1092835"/>
            <a:ext cx="8799195" cy="580898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4"/>
          <p:cNvSpPr txBox="1"/>
          <p:nvPr/>
        </p:nvSpPr>
        <p:spPr>
          <a:xfrm>
            <a:off x="1475740" y="2143125"/>
            <a:ext cx="9496425" cy="2031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i="0" u="none" strike="noStrike" cap="none">
                <a:solidFill>
                  <a:srgbClr val="F5F5D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Graphical User Interface</a:t>
            </a:r>
            <a:endParaRPr lang="en-US" sz="6600" b="1" i="0" u="none" strike="noStrike" cap="none">
              <a:solidFill>
                <a:srgbClr val="F5F5DC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39" name="Google Shape;239;p24"/>
          <p:cNvSpPr txBox="1"/>
          <p:nvPr/>
        </p:nvSpPr>
        <p:spPr>
          <a:xfrm>
            <a:off x="571500" y="4352925"/>
            <a:ext cx="11049000" cy="18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B5A2B"/>
                </a:solidFill>
                <a:latin typeface="Azeret Mono"/>
                <a:ea typeface="Azeret Mono"/>
                <a:cs typeface="Azeret Mono"/>
                <a:sym typeface="Azeret Mono"/>
              </a:rPr>
              <a:t>Woodcraft Web Application</a:t>
            </a:r>
            <a:endParaRPr lang="en-US" sz="1200" b="0" i="0" u="none" strike="noStrike" cap="none">
              <a:solidFill>
                <a:srgbClr val="8B5A2B"/>
              </a:solidFill>
              <a:latin typeface="Azeret Mono"/>
              <a:ea typeface="Azeret Mono"/>
              <a:cs typeface="Azeret Mono"/>
              <a:sym typeface="Azeret Mono"/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5619750" y="2143442"/>
            <a:ext cx="952500" cy="38100"/>
          </a:xfrm>
          <a:prstGeom prst="rect">
            <a:avLst/>
          </a:prstGeom>
          <a:solidFill>
            <a:srgbClr val="D269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2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Picture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65" y="1008380"/>
            <a:ext cx="11888470" cy="56864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/>
          <p:cNvGrpSpPr/>
          <p:nvPr/>
        </p:nvGrpSpPr>
        <p:grpSpPr>
          <a:xfrm>
            <a:off x="297815" y="236220"/>
            <a:ext cx="11596370" cy="561975"/>
            <a:chOff x="938" y="836"/>
            <a:chExt cx="18262" cy="885"/>
          </a:xfrm>
        </p:grpSpPr>
        <p:sp>
          <p:nvSpPr>
            <p:cNvPr id="260" name="Google Shape;260;p25"/>
            <p:cNvSpPr txBox="1"/>
            <p:nvPr/>
          </p:nvSpPr>
          <p:spPr>
            <a:xfrm>
              <a:off x="1245" y="836"/>
              <a:ext cx="17955" cy="6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indent="0">
                <a:buNone/>
              </a:pPr>
              <a:r>
                <a:rPr lang="en-US" sz="2800" b="1" cap="none">
                  <a:solidFill>
                    <a:srgbClr val="F5F5DC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HomePage:</a:t>
              </a:r>
              <a:endParaRPr lang="en-US" sz="2800" b="1" cap="none">
                <a:solidFill>
                  <a:srgbClr val="F5F5DC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261" name="Google Shape;261;p25"/>
            <p:cNvSpPr/>
            <p:nvPr/>
          </p:nvSpPr>
          <p:spPr>
            <a:xfrm>
              <a:off x="938" y="836"/>
              <a:ext cx="75" cy="885"/>
            </a:xfrm>
            <a:prstGeom prst="rect">
              <a:avLst/>
            </a:prstGeom>
            <a:solidFill>
              <a:srgbClr val="D2691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2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/>
          <p:cNvGrpSpPr/>
          <p:nvPr/>
        </p:nvGrpSpPr>
        <p:grpSpPr>
          <a:xfrm>
            <a:off x="297815" y="236220"/>
            <a:ext cx="11596370" cy="561975"/>
            <a:chOff x="938" y="836"/>
            <a:chExt cx="18262" cy="885"/>
          </a:xfrm>
        </p:grpSpPr>
        <p:sp>
          <p:nvSpPr>
            <p:cNvPr id="260" name="Google Shape;260;p25"/>
            <p:cNvSpPr txBox="1"/>
            <p:nvPr/>
          </p:nvSpPr>
          <p:spPr>
            <a:xfrm>
              <a:off x="1245" y="836"/>
              <a:ext cx="17955" cy="6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indent="0">
                <a:buNone/>
              </a:pPr>
              <a:r>
                <a:rPr lang="en-US" sz="2800" b="1" cap="none">
                  <a:solidFill>
                    <a:srgbClr val="F5F5DC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HomePage:</a:t>
              </a:r>
              <a:endParaRPr lang="en-US" sz="2800" b="1" cap="none">
                <a:solidFill>
                  <a:srgbClr val="F5F5DC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261" name="Google Shape;261;p25"/>
            <p:cNvSpPr/>
            <p:nvPr/>
          </p:nvSpPr>
          <p:spPr>
            <a:xfrm>
              <a:off x="938" y="836"/>
              <a:ext cx="75" cy="885"/>
            </a:xfrm>
            <a:prstGeom prst="rect">
              <a:avLst/>
            </a:prstGeom>
            <a:solidFill>
              <a:srgbClr val="D2691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pic>
        <p:nvPicPr>
          <p:cNvPr id="23" name="Picture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8945" y="968375"/>
            <a:ext cx="8949055" cy="55556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2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/>
          <p:cNvGrpSpPr/>
          <p:nvPr/>
        </p:nvGrpSpPr>
        <p:grpSpPr>
          <a:xfrm>
            <a:off x="297815" y="236220"/>
            <a:ext cx="11596370" cy="561975"/>
            <a:chOff x="938" y="836"/>
            <a:chExt cx="18262" cy="885"/>
          </a:xfrm>
        </p:grpSpPr>
        <p:sp>
          <p:nvSpPr>
            <p:cNvPr id="260" name="Google Shape;260;p25"/>
            <p:cNvSpPr txBox="1"/>
            <p:nvPr/>
          </p:nvSpPr>
          <p:spPr>
            <a:xfrm>
              <a:off x="1245" y="836"/>
              <a:ext cx="17955" cy="6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indent="0">
                <a:buNone/>
              </a:pPr>
              <a:r>
                <a:rPr lang="en-US" sz="2800" b="1" cap="none">
                  <a:solidFill>
                    <a:srgbClr val="F5F5DC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HomePage:</a:t>
              </a:r>
              <a:endParaRPr lang="en-US" sz="2800" b="1" cap="none">
                <a:solidFill>
                  <a:srgbClr val="F5F5DC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261" name="Google Shape;261;p25"/>
            <p:cNvSpPr/>
            <p:nvPr/>
          </p:nvSpPr>
          <p:spPr>
            <a:xfrm>
              <a:off x="938" y="836"/>
              <a:ext cx="75" cy="885"/>
            </a:xfrm>
            <a:prstGeom prst="rect">
              <a:avLst/>
            </a:prstGeom>
            <a:solidFill>
              <a:srgbClr val="D2691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pic>
        <p:nvPicPr>
          <p:cNvPr id="24" name="Pictur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80" y="892810"/>
            <a:ext cx="10267950" cy="5965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2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/>
          <p:cNvGrpSpPr/>
          <p:nvPr/>
        </p:nvGrpSpPr>
        <p:grpSpPr>
          <a:xfrm>
            <a:off x="297815" y="236220"/>
            <a:ext cx="11596370" cy="561975"/>
            <a:chOff x="938" y="836"/>
            <a:chExt cx="18262" cy="885"/>
          </a:xfrm>
        </p:grpSpPr>
        <p:sp>
          <p:nvSpPr>
            <p:cNvPr id="260" name="Google Shape;260;p25"/>
            <p:cNvSpPr txBox="1"/>
            <p:nvPr/>
          </p:nvSpPr>
          <p:spPr>
            <a:xfrm>
              <a:off x="1245" y="836"/>
              <a:ext cx="17955" cy="6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indent="0">
                <a:buNone/>
              </a:pPr>
              <a:r>
                <a:rPr lang="en-US" sz="2800" b="1" cap="none">
                  <a:solidFill>
                    <a:srgbClr val="F5F5DC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Login Page:</a:t>
              </a:r>
              <a:endParaRPr lang="en-US" sz="2800" b="1" cap="none">
                <a:solidFill>
                  <a:srgbClr val="F5F5DC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261" name="Google Shape;261;p25"/>
            <p:cNvSpPr/>
            <p:nvPr/>
          </p:nvSpPr>
          <p:spPr>
            <a:xfrm>
              <a:off x="938" y="836"/>
              <a:ext cx="75" cy="885"/>
            </a:xfrm>
            <a:prstGeom prst="rect">
              <a:avLst/>
            </a:prstGeom>
            <a:solidFill>
              <a:srgbClr val="D2691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pic>
        <p:nvPicPr>
          <p:cNvPr id="25" name="Picture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70" y="1272540"/>
            <a:ext cx="11715115" cy="5430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5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</p:pic>
      <p:grpSp>
        <p:nvGrpSpPr>
          <p:cNvPr id="2" name="Group 1"/>
          <p:cNvGrpSpPr/>
          <p:nvPr/>
        </p:nvGrpSpPr>
        <p:grpSpPr>
          <a:xfrm>
            <a:off x="741045" y="2362200"/>
            <a:ext cx="5215255" cy="1905000"/>
            <a:chOff x="1167" y="3720"/>
            <a:chExt cx="8213" cy="3000"/>
          </a:xfrm>
        </p:grpSpPr>
        <p:sp>
          <p:nvSpPr>
            <p:cNvPr id="260" name="Google Shape;260;p25"/>
            <p:cNvSpPr txBox="1"/>
            <p:nvPr/>
          </p:nvSpPr>
          <p:spPr>
            <a:xfrm>
              <a:off x="1167" y="3720"/>
              <a:ext cx="8213" cy="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indent="0" algn="ctr">
                <a:buNone/>
              </a:pPr>
              <a:r>
                <a:rPr lang="en-US" sz="4000" b="1" cap="none">
                  <a:solidFill>
                    <a:srgbClr val="F5F5DC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Register New Accounts</a:t>
              </a:r>
              <a:endParaRPr lang="en-US" sz="4400" b="1" cap="none">
                <a:solidFill>
                  <a:srgbClr val="F5F5DC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261" name="Google Shape;261;p25"/>
            <p:cNvSpPr/>
            <p:nvPr/>
          </p:nvSpPr>
          <p:spPr>
            <a:xfrm>
              <a:off x="1290" y="3720"/>
              <a:ext cx="121" cy="2342"/>
            </a:xfrm>
            <a:prstGeom prst="rect">
              <a:avLst/>
            </a:prstGeom>
            <a:solidFill>
              <a:srgbClr val="D2691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pic>
        <p:nvPicPr>
          <p:cNvPr id="26" name="Picture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6300" y="171450"/>
            <a:ext cx="5438140" cy="668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2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/>
          <p:cNvGrpSpPr/>
          <p:nvPr/>
        </p:nvGrpSpPr>
        <p:grpSpPr>
          <a:xfrm>
            <a:off x="297815" y="236220"/>
            <a:ext cx="11596370" cy="561975"/>
            <a:chOff x="938" y="836"/>
            <a:chExt cx="18262" cy="885"/>
          </a:xfrm>
        </p:grpSpPr>
        <p:sp>
          <p:nvSpPr>
            <p:cNvPr id="260" name="Google Shape;260;p25"/>
            <p:cNvSpPr txBox="1"/>
            <p:nvPr/>
          </p:nvSpPr>
          <p:spPr>
            <a:xfrm>
              <a:off x="1245" y="836"/>
              <a:ext cx="17955" cy="6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indent="0">
                <a:buNone/>
              </a:pPr>
              <a:r>
                <a:rPr lang="en-US" sz="2800" b="1" cap="none">
                  <a:solidFill>
                    <a:srgbClr val="F5F5DC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Login Page:</a:t>
              </a:r>
              <a:endParaRPr lang="en-US" sz="2800" b="1" cap="none">
                <a:solidFill>
                  <a:srgbClr val="F5F5DC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261" name="Google Shape;261;p25"/>
            <p:cNvSpPr/>
            <p:nvPr/>
          </p:nvSpPr>
          <p:spPr>
            <a:xfrm>
              <a:off x="938" y="836"/>
              <a:ext cx="75" cy="885"/>
            </a:xfrm>
            <a:prstGeom prst="rect">
              <a:avLst/>
            </a:prstGeom>
            <a:solidFill>
              <a:srgbClr val="D2691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pic>
        <p:nvPicPr>
          <p:cNvPr id="25" name="Picture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70" y="1272540"/>
            <a:ext cx="11715115" cy="5430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2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/>
          <p:cNvGrpSpPr/>
          <p:nvPr/>
        </p:nvGrpSpPr>
        <p:grpSpPr>
          <a:xfrm>
            <a:off x="297815" y="236220"/>
            <a:ext cx="11596370" cy="561975"/>
            <a:chOff x="938" y="836"/>
            <a:chExt cx="18262" cy="885"/>
          </a:xfrm>
        </p:grpSpPr>
        <p:sp>
          <p:nvSpPr>
            <p:cNvPr id="260" name="Google Shape;260;p25"/>
            <p:cNvSpPr txBox="1"/>
            <p:nvPr/>
          </p:nvSpPr>
          <p:spPr>
            <a:xfrm>
              <a:off x="1245" y="836"/>
              <a:ext cx="17955" cy="6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indent="0">
                <a:buNone/>
              </a:pPr>
              <a:r>
                <a:rPr lang="en-US" sz="2800" b="1" cap="none">
                  <a:solidFill>
                    <a:srgbClr val="F5F5DC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Admin Account</a:t>
              </a:r>
              <a:endParaRPr lang="en-US" sz="2800" b="1" cap="none">
                <a:solidFill>
                  <a:srgbClr val="F5F5DC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261" name="Google Shape;261;p25"/>
            <p:cNvSpPr/>
            <p:nvPr/>
          </p:nvSpPr>
          <p:spPr>
            <a:xfrm>
              <a:off x="938" y="836"/>
              <a:ext cx="75" cy="885"/>
            </a:xfrm>
            <a:prstGeom prst="rect">
              <a:avLst/>
            </a:prstGeom>
            <a:solidFill>
              <a:srgbClr val="D2691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pic>
        <p:nvPicPr>
          <p:cNvPr id="27" name="Picture 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9650"/>
            <a:ext cx="12192000" cy="5449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2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/>
          <p:cNvGrpSpPr/>
          <p:nvPr/>
        </p:nvGrpSpPr>
        <p:grpSpPr>
          <a:xfrm>
            <a:off x="297815" y="236220"/>
            <a:ext cx="11596370" cy="561975"/>
            <a:chOff x="938" y="836"/>
            <a:chExt cx="18262" cy="885"/>
          </a:xfrm>
        </p:grpSpPr>
        <p:sp>
          <p:nvSpPr>
            <p:cNvPr id="260" name="Google Shape;260;p25"/>
            <p:cNvSpPr txBox="1"/>
            <p:nvPr/>
          </p:nvSpPr>
          <p:spPr>
            <a:xfrm>
              <a:off x="1245" y="836"/>
              <a:ext cx="17955" cy="6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indent="0">
                <a:buNone/>
              </a:pPr>
              <a:r>
                <a:rPr lang="en-US" sz="2800" b="1" cap="none">
                  <a:solidFill>
                    <a:srgbClr val="F5F5DC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Admin Account</a:t>
              </a:r>
              <a:endParaRPr lang="en-US" sz="2800" b="1" cap="none">
                <a:solidFill>
                  <a:srgbClr val="F5F5DC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261" name="Google Shape;261;p25"/>
            <p:cNvSpPr/>
            <p:nvPr/>
          </p:nvSpPr>
          <p:spPr>
            <a:xfrm>
              <a:off x="938" y="836"/>
              <a:ext cx="75" cy="885"/>
            </a:xfrm>
            <a:prstGeom prst="rect">
              <a:avLst/>
            </a:prstGeom>
            <a:solidFill>
              <a:srgbClr val="D2691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pic>
        <p:nvPicPr>
          <p:cNvPr id="28" name="Picture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155" y="1242695"/>
            <a:ext cx="11670030" cy="524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2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/>
          <p:cNvGrpSpPr/>
          <p:nvPr/>
        </p:nvGrpSpPr>
        <p:grpSpPr>
          <a:xfrm>
            <a:off x="297815" y="236220"/>
            <a:ext cx="11596370" cy="561975"/>
            <a:chOff x="938" y="836"/>
            <a:chExt cx="18262" cy="885"/>
          </a:xfrm>
        </p:grpSpPr>
        <p:sp>
          <p:nvSpPr>
            <p:cNvPr id="260" name="Google Shape;260;p25"/>
            <p:cNvSpPr txBox="1"/>
            <p:nvPr/>
          </p:nvSpPr>
          <p:spPr>
            <a:xfrm>
              <a:off x="1245" y="836"/>
              <a:ext cx="17955" cy="6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indent="0">
                <a:buNone/>
              </a:pPr>
              <a:r>
                <a:rPr lang="en-US" sz="2800" b="1" cap="none">
                  <a:solidFill>
                    <a:srgbClr val="F5F5DC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Employee Account</a:t>
              </a:r>
              <a:endParaRPr lang="en-US" sz="2800" b="1" cap="none">
                <a:solidFill>
                  <a:srgbClr val="F5F5DC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261" name="Google Shape;261;p25"/>
            <p:cNvSpPr/>
            <p:nvPr/>
          </p:nvSpPr>
          <p:spPr>
            <a:xfrm>
              <a:off x="938" y="836"/>
              <a:ext cx="75" cy="885"/>
            </a:xfrm>
            <a:prstGeom prst="rect">
              <a:avLst/>
            </a:prstGeom>
            <a:solidFill>
              <a:srgbClr val="D2691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pic>
        <p:nvPicPr>
          <p:cNvPr id="29" name="Picture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" y="1123950"/>
            <a:ext cx="11825605" cy="5344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2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/>
          <p:cNvGrpSpPr/>
          <p:nvPr/>
        </p:nvGrpSpPr>
        <p:grpSpPr>
          <a:xfrm>
            <a:off x="297815" y="236220"/>
            <a:ext cx="11596370" cy="561975"/>
            <a:chOff x="938" y="836"/>
            <a:chExt cx="18262" cy="885"/>
          </a:xfrm>
        </p:grpSpPr>
        <p:sp>
          <p:nvSpPr>
            <p:cNvPr id="260" name="Google Shape;260;p25"/>
            <p:cNvSpPr txBox="1"/>
            <p:nvPr/>
          </p:nvSpPr>
          <p:spPr>
            <a:xfrm>
              <a:off x="1245" y="836"/>
              <a:ext cx="17955" cy="6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indent="0">
                <a:buNone/>
              </a:pPr>
              <a:r>
                <a:rPr lang="en-US" sz="2800" b="1" cap="none">
                  <a:solidFill>
                    <a:srgbClr val="F5F5DC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Employee Account</a:t>
              </a:r>
              <a:endParaRPr lang="en-US" sz="2800" b="1" cap="none">
                <a:solidFill>
                  <a:srgbClr val="F5F5DC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261" name="Google Shape;261;p25"/>
            <p:cNvSpPr/>
            <p:nvPr/>
          </p:nvSpPr>
          <p:spPr>
            <a:xfrm>
              <a:off x="938" y="836"/>
              <a:ext cx="75" cy="885"/>
            </a:xfrm>
            <a:prstGeom prst="rect">
              <a:avLst/>
            </a:prstGeom>
            <a:solidFill>
              <a:srgbClr val="D2691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pic>
        <p:nvPicPr>
          <p:cNvPr id="30" name="Picture 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995" y="1457325"/>
            <a:ext cx="11680190" cy="524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2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/>
          <p:cNvGrpSpPr/>
          <p:nvPr/>
        </p:nvGrpSpPr>
        <p:grpSpPr>
          <a:xfrm>
            <a:off x="297815" y="236220"/>
            <a:ext cx="11596370" cy="561975"/>
            <a:chOff x="938" y="836"/>
            <a:chExt cx="18262" cy="885"/>
          </a:xfrm>
        </p:grpSpPr>
        <p:sp>
          <p:nvSpPr>
            <p:cNvPr id="260" name="Google Shape;260;p25"/>
            <p:cNvSpPr txBox="1"/>
            <p:nvPr/>
          </p:nvSpPr>
          <p:spPr>
            <a:xfrm>
              <a:off x="1245" y="836"/>
              <a:ext cx="17955" cy="6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indent="0">
                <a:buNone/>
              </a:pPr>
              <a:r>
                <a:rPr lang="en-US" sz="2800" b="1" cap="none">
                  <a:solidFill>
                    <a:srgbClr val="F5F5DC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Customer Account</a:t>
              </a:r>
              <a:endParaRPr lang="en-US" sz="2800" b="1" cap="none">
                <a:solidFill>
                  <a:srgbClr val="F5F5DC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261" name="Google Shape;261;p25"/>
            <p:cNvSpPr/>
            <p:nvPr/>
          </p:nvSpPr>
          <p:spPr>
            <a:xfrm>
              <a:off x="938" y="836"/>
              <a:ext cx="75" cy="885"/>
            </a:xfrm>
            <a:prstGeom prst="rect">
              <a:avLst/>
            </a:prstGeom>
            <a:solidFill>
              <a:srgbClr val="D2691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pic>
        <p:nvPicPr>
          <p:cNvPr id="31" name="Picture 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9365"/>
            <a:ext cx="12222480" cy="547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2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/>
          <p:cNvGrpSpPr/>
          <p:nvPr/>
        </p:nvGrpSpPr>
        <p:grpSpPr>
          <a:xfrm>
            <a:off x="297815" y="236220"/>
            <a:ext cx="11596370" cy="561975"/>
            <a:chOff x="938" y="836"/>
            <a:chExt cx="18262" cy="885"/>
          </a:xfrm>
        </p:grpSpPr>
        <p:sp>
          <p:nvSpPr>
            <p:cNvPr id="260" name="Google Shape;260;p25"/>
            <p:cNvSpPr txBox="1"/>
            <p:nvPr/>
          </p:nvSpPr>
          <p:spPr>
            <a:xfrm>
              <a:off x="1245" y="836"/>
              <a:ext cx="17955" cy="6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indent="0">
                <a:buNone/>
              </a:pPr>
              <a:r>
                <a:rPr lang="en-US" sz="2800" b="1" cap="none">
                  <a:solidFill>
                    <a:srgbClr val="F5F5DC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Customer Account</a:t>
              </a:r>
              <a:endParaRPr lang="en-US" sz="2800" b="1" cap="none">
                <a:solidFill>
                  <a:srgbClr val="F5F5DC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261" name="Google Shape;261;p25"/>
            <p:cNvSpPr/>
            <p:nvPr/>
          </p:nvSpPr>
          <p:spPr>
            <a:xfrm>
              <a:off x="938" y="836"/>
              <a:ext cx="75" cy="885"/>
            </a:xfrm>
            <a:prstGeom prst="rect">
              <a:avLst/>
            </a:prstGeom>
            <a:solidFill>
              <a:srgbClr val="D2691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pic>
        <p:nvPicPr>
          <p:cNvPr id="32" name="Picture 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2540"/>
            <a:ext cx="12087225" cy="54876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9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9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381750" y="2128837"/>
            <a:ext cx="5238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>
            <a:off x="1428750" y="2281237"/>
            <a:ext cx="4381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2691E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Frontend:</a:t>
            </a:r>
            <a:r>
              <a:rPr lang="en-US" sz="1500" b="0" i="0" u="none" strike="noStrike" cap="none">
                <a:solidFill>
                  <a:srgbClr val="A0A0A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React 18, TypeScript, Vite, and Tailwind CSS for a performant UI.</a:t>
            </a:r>
            <a:endParaRPr lang="en-US" sz="1500" b="0" i="0" u="none" strike="noStrike" cap="none">
              <a:solidFill>
                <a:srgbClr val="A0A0A0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>
            <a:off x="1428750" y="3128962"/>
            <a:ext cx="4381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2691E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Backend:</a:t>
            </a:r>
            <a:r>
              <a:rPr lang="en-US" sz="1500" b="0" i="0" u="none" strike="noStrike" cap="none">
                <a:solidFill>
                  <a:srgbClr val="A0A0A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Node.js &amp; Express.js reference implementation.</a:t>
            </a:r>
            <a:endParaRPr lang="en-US" sz="1500" b="0" i="0" u="none" strike="noStrike" cap="none">
              <a:solidFill>
                <a:srgbClr val="A0A0A0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>
            <a:off x="1428750" y="3976687"/>
            <a:ext cx="4381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2691E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Storage:</a:t>
            </a:r>
            <a:r>
              <a:rPr lang="en-US" sz="1500" b="0" i="0" u="none" strike="noStrike" cap="none">
                <a:solidFill>
                  <a:srgbClr val="A0A0A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MySQL with Relational Schema for data integrity.</a:t>
            </a:r>
            <a:endParaRPr lang="en-US" sz="1500" b="0" i="0" u="none" strike="noStrike" cap="none">
              <a:solidFill>
                <a:srgbClr val="A0A0A0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>
            <a:off x="1428750" y="4824412"/>
            <a:ext cx="4381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2691E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Security:</a:t>
            </a:r>
            <a:r>
              <a:rPr lang="en-US" sz="1500" b="0" i="0" u="none" strike="noStrike" cap="none">
                <a:solidFill>
                  <a:srgbClr val="A0A0A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JWT for authentication and BCrypt for password hashing.</a:t>
            </a:r>
            <a:endParaRPr lang="en-US" sz="1500" b="0" i="0" u="none" strike="noStrike" cap="none">
              <a:solidFill>
                <a:srgbClr val="A0A0A0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pic>
        <p:nvPicPr>
          <p:cNvPr id="166" name="Google Shape;166;p19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952500" y="2324100"/>
            <a:ext cx="22860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9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52500" y="31670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9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952500" y="401478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9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952500" y="4862512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9"/>
          <p:cNvSpPr txBox="1"/>
          <p:nvPr/>
        </p:nvSpPr>
        <p:spPr>
          <a:xfrm>
            <a:off x="762000" y="571500"/>
            <a:ext cx="11401425" cy="507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5F5D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Tool &amp; Modern Tech Stack</a:t>
            </a:r>
            <a:endParaRPr lang="en-US" sz="3300" b="1" i="0" u="none" strike="noStrike" cap="none">
              <a:solidFill>
                <a:srgbClr val="F5F5DC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71" name="Google Shape;171;p19"/>
          <p:cNvSpPr/>
          <p:nvPr/>
        </p:nvSpPr>
        <p:spPr>
          <a:xfrm>
            <a:off x="571500" y="571500"/>
            <a:ext cx="47625" cy="561975"/>
          </a:xfrm>
          <a:prstGeom prst="rect">
            <a:avLst/>
          </a:prstGeom>
          <a:solidFill>
            <a:srgbClr val="D269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" name="Picture 0"/>
          <p:cNvPicPr/>
          <p:nvPr/>
        </p:nvPicPr>
        <p:blipFill>
          <a:blip r:embed="rId7"/>
          <a:stretch>
            <a:fillRect/>
          </a:stretch>
        </p:blipFill>
        <p:spPr>
          <a:xfrm>
            <a:off x="6496685" y="2214880"/>
            <a:ext cx="5026025" cy="3112770"/>
          </a:xfrm>
          <a:prstGeom prst="rect">
            <a:avLst/>
          </a:prstGeom>
          <a:effectLst>
            <a:softEdge rad="63500"/>
          </a:effectLst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0" y="0"/>
            <a:ext cx="12192000" cy="6858000"/>
            <a:chOff x="0" y="0"/>
            <a:chExt cx="19200" cy="10800"/>
          </a:xfrm>
        </p:grpSpPr>
        <p:pic>
          <p:nvPicPr>
            <p:cNvPr id="233" name="Google Shape;233;p25" descr="image.png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0" y="0"/>
              <a:ext cx="19200" cy="10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4" name="Google Shape;234;p25" descr="image.png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900" y="3352"/>
              <a:ext cx="5500" cy="55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5" name="Google Shape;235;p25" descr="image.png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6850" y="3352"/>
              <a:ext cx="5500" cy="55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6" name="Google Shape;236;p25" descr="image.png"/>
            <p:cNvPicPr preferRelativeResize="0"/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12800" y="3352"/>
              <a:ext cx="5500" cy="55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7" name="Google Shape;237;p25" descr="image.png"/>
            <p:cNvPicPr preferRelativeResize="0"/>
            <p:nvPr/>
          </p:nvPicPr>
          <p:blipFill rotWithShape="1">
            <a:blip r:embed="rId5"/>
            <a:srcRect/>
            <a:stretch>
              <a:fillRect/>
            </a:stretch>
          </p:blipFill>
          <p:spPr>
            <a:xfrm>
              <a:off x="1200" y="3652"/>
              <a:ext cx="4900" cy="2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8" name="Google Shape;238;p25" descr="image.png"/>
            <p:cNvPicPr preferRelativeResize="0"/>
            <p:nvPr/>
          </p:nvPicPr>
          <p:blipFill rotWithShape="1">
            <a:blip r:embed="rId6"/>
            <a:srcRect/>
            <a:stretch>
              <a:fillRect/>
            </a:stretch>
          </p:blipFill>
          <p:spPr>
            <a:xfrm>
              <a:off x="7150" y="3652"/>
              <a:ext cx="4900" cy="2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9" name="Google Shape;239;p25" descr="image.png"/>
            <p:cNvPicPr preferRelativeResize="0"/>
            <p:nvPr/>
          </p:nvPicPr>
          <p:blipFill rotWithShape="1">
            <a:blip r:embed="rId7"/>
            <a:srcRect/>
            <a:stretch>
              <a:fillRect/>
            </a:stretch>
          </p:blipFill>
          <p:spPr>
            <a:xfrm>
              <a:off x="13100" y="3652"/>
              <a:ext cx="4900" cy="2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0" name="Google Shape;240;p25"/>
            <p:cNvSpPr txBox="1"/>
            <p:nvPr/>
          </p:nvSpPr>
          <p:spPr>
            <a:xfrm>
              <a:off x="1077" y="6577"/>
              <a:ext cx="5145" cy="6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>
                  <a:solidFill>
                    <a:srgbClr val="FFB200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Frontend</a:t>
              </a:r>
              <a:endParaRPr lang="en-US" sz="2400" b="1" i="0" u="none" strike="noStrike" cap="none">
                <a:solidFill>
                  <a:srgbClr val="FFB200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241" name="Google Shape;241;p25"/>
            <p:cNvSpPr txBox="1"/>
            <p:nvPr/>
          </p:nvSpPr>
          <p:spPr>
            <a:xfrm>
              <a:off x="1200" y="7492"/>
              <a:ext cx="4900" cy="8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u="none" strike="noStrike" cap="none">
                  <a:solidFill>
                    <a:srgbClr val="A0A0A0"/>
                  </a:solidFill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rPr>
                <a:t>React 18, Vite, TypeScript, Tailwind CSS, shadcn/ui</a:t>
              </a:r>
              <a:endParaRPr lang="en-US" sz="1350" b="0" i="0" u="none" strike="noStrike" cap="none">
                <a:solidFill>
                  <a:srgbClr val="A0A0A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endParaRPr>
            </a:p>
          </p:txBody>
        </p:sp>
        <p:sp>
          <p:nvSpPr>
            <p:cNvPr id="242" name="Google Shape;242;p25"/>
            <p:cNvSpPr txBox="1"/>
            <p:nvPr/>
          </p:nvSpPr>
          <p:spPr>
            <a:xfrm>
              <a:off x="7028" y="6577"/>
              <a:ext cx="5145" cy="6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>
                  <a:solidFill>
                    <a:srgbClr val="FFB200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Backend</a:t>
              </a:r>
              <a:endParaRPr lang="en-US" sz="2400" b="1" i="0" u="none" strike="noStrike" cap="none">
                <a:solidFill>
                  <a:srgbClr val="FFB200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243" name="Google Shape;243;p25"/>
            <p:cNvSpPr txBox="1"/>
            <p:nvPr/>
          </p:nvSpPr>
          <p:spPr>
            <a:xfrm>
              <a:off x="7150" y="7492"/>
              <a:ext cx="4900" cy="8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u="none" strike="noStrike" cap="none">
                  <a:solidFill>
                    <a:srgbClr val="A0A0A0"/>
                  </a:solidFill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rPr>
                <a:t>Node.js, Express, JWT Auth, Bcrypt Security</a:t>
              </a:r>
              <a:endParaRPr lang="en-US" sz="1350" b="0" i="0" u="none" strike="noStrike" cap="none">
                <a:solidFill>
                  <a:srgbClr val="A0A0A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endParaRPr>
            </a:p>
          </p:txBody>
        </p:sp>
        <p:sp>
          <p:nvSpPr>
            <p:cNvPr id="244" name="Google Shape;244;p25"/>
            <p:cNvSpPr txBox="1"/>
            <p:nvPr/>
          </p:nvSpPr>
          <p:spPr>
            <a:xfrm>
              <a:off x="12978" y="6577"/>
              <a:ext cx="5145" cy="6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>
                  <a:solidFill>
                    <a:srgbClr val="FFB200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Database</a:t>
              </a:r>
              <a:endParaRPr lang="en-US" sz="2400" b="1" i="0" u="none" strike="noStrike" cap="none">
                <a:solidFill>
                  <a:srgbClr val="FFB200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245" name="Google Shape;245;p25"/>
            <p:cNvSpPr txBox="1"/>
            <p:nvPr/>
          </p:nvSpPr>
          <p:spPr>
            <a:xfrm>
              <a:off x="13100" y="7492"/>
              <a:ext cx="4900" cy="8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u="none" strike="noStrike" cap="none">
                  <a:solidFill>
                    <a:srgbClr val="A0A0A0"/>
                  </a:solidFill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rPr>
                <a:t>MySQL Relational Schema for persistent storage</a:t>
              </a:r>
              <a:endParaRPr lang="en-US" sz="1350" b="0" i="0" u="none" strike="noStrike" cap="none">
                <a:solidFill>
                  <a:srgbClr val="A0A0A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endParaRPr>
            </a:p>
          </p:txBody>
        </p:sp>
        <p:pic>
          <p:nvPicPr>
            <p:cNvPr id="247" name="Google Shape;247;p25" descr="image.png"/>
            <p:cNvPicPr preferRelativeResize="0"/>
            <p:nvPr/>
          </p:nvPicPr>
          <p:blipFill rotWithShape="1">
            <a:blip r:embed="rId8"/>
            <a:srcRect/>
            <a:stretch>
              <a:fillRect/>
            </a:stretch>
          </p:blipFill>
          <p:spPr>
            <a:xfrm>
              <a:off x="7165" y="3667"/>
              <a:ext cx="4870" cy="267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8" name="Google Shape;248;p25" descr="image.png"/>
            <p:cNvPicPr preferRelativeResize="0"/>
            <p:nvPr/>
          </p:nvPicPr>
          <p:blipFill rotWithShape="1">
            <a:blip r:embed="rId9"/>
            <a:srcRect/>
            <a:stretch>
              <a:fillRect/>
            </a:stretch>
          </p:blipFill>
          <p:spPr>
            <a:xfrm>
              <a:off x="13115" y="3667"/>
              <a:ext cx="4870" cy="26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9" name="Google Shape;249;p25"/>
            <p:cNvSpPr txBox="1"/>
            <p:nvPr/>
          </p:nvSpPr>
          <p:spPr>
            <a:xfrm>
              <a:off x="1200" y="900"/>
              <a:ext cx="17955" cy="8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300" b="0" i="0" u="none" strike="noStrike" cap="none">
                  <a:solidFill>
                    <a:srgbClr val="F5F5DC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The Tech Stack</a:t>
              </a:r>
              <a:endParaRPr lang="en-US" sz="3300" b="0" i="0" u="none" strike="noStrike" cap="none">
                <a:solidFill>
                  <a:srgbClr val="F5F5DC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250" name="Google Shape;250;p25"/>
            <p:cNvSpPr/>
            <p:nvPr/>
          </p:nvSpPr>
          <p:spPr>
            <a:xfrm>
              <a:off x="900" y="900"/>
              <a:ext cx="75" cy="885"/>
            </a:xfrm>
            <a:prstGeom prst="rect">
              <a:avLst/>
            </a:prstGeom>
            <a:solidFill>
              <a:srgbClr val="D2691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pic>
        <p:nvPicPr>
          <p:cNvPr id="156" name="Google Shape;156;p17" descr="image.png"/>
          <p:cNvPicPr preferRelativeResize="0"/>
          <p:nvPr/>
        </p:nvPicPr>
        <p:blipFill rotWithShape="1">
          <a:blip r:embed="rId10"/>
          <a:srcRect/>
          <a:stretch>
            <a:fillRect/>
          </a:stretch>
        </p:blipFill>
        <p:spPr>
          <a:xfrm>
            <a:off x="751205" y="2180590"/>
            <a:ext cx="3112770" cy="1915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title="WhatsApp Image 2026-05-11 at 7.21.22 AM.jpeg"/>
          <p:cNvPicPr preferRelativeResize="0"/>
          <p:nvPr/>
        </p:nvPicPr>
        <p:blipFill rotWithShape="1">
          <a:blip r:embed="rId1">
            <a:alphaModFix amt="43000"/>
          </a:blip>
          <a:srcRect t="7785" b="7785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 w="28575">
            <a:solidFill>
              <a:schemeClr val="accent6">
                <a:lumMod val="60000"/>
                <a:lumOff val="40000"/>
              </a:schemeClr>
            </a:solidFill>
          </a:ln>
          <a:effectLst>
            <a:outerShdw algn="bl" rotWithShape="0">
              <a:srgbClr val="000000">
                <a:alpha val="0"/>
              </a:srgbClr>
            </a:outerShdw>
            <a:reflection stA="0" endPos="30000" dist="38100" dir="5400000" fadeDir="5400012" sy="-100000" algn="bl" rotWithShape="0"/>
          </a:effectLst>
        </p:spPr>
      </p:pic>
      <p:sp>
        <p:nvSpPr>
          <p:cNvPr id="87" name="Google Shape;87;p13"/>
          <p:cNvSpPr txBox="1"/>
          <p:nvPr/>
        </p:nvSpPr>
        <p:spPr>
          <a:xfrm>
            <a:off x="121920" y="2627858"/>
            <a:ext cx="11601450" cy="106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50000"/>
              </a:lnSpc>
              <a:buNone/>
            </a:pPr>
            <a:r>
              <a:rPr lang="en-US" sz="13800" b="1" i="1" u="none" strike="noStrike" cap="none">
                <a:solidFill>
                  <a:srgbClr val="F5F5D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Thank You</a:t>
            </a:r>
            <a:endParaRPr lang="en-US" sz="2400" b="1" i="0" u="none" strike="noStrike" cap="none">
              <a:solidFill>
                <a:srgbClr val="F5F5DC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3075" name="Picture 6" descr="C:\Users\usman.waheed\Desktop\vu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8090" y="5321935"/>
            <a:ext cx="2014538" cy="14636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5857</Words>
  <Application>WPS Presentation</Application>
  <PresentationFormat/>
  <Paragraphs>236</Paragraphs>
  <Slides>48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48</vt:i4>
      </vt:variant>
    </vt:vector>
  </HeadingPairs>
  <TitlesOfParts>
    <vt:vector size="61" baseType="lpstr">
      <vt:lpstr>Arial</vt:lpstr>
      <vt:lpstr>SimSun</vt:lpstr>
      <vt:lpstr>Wingdings</vt:lpstr>
      <vt:lpstr>Arial</vt:lpstr>
      <vt:lpstr>Calibri</vt:lpstr>
      <vt:lpstr>Azeret Mono</vt:lpstr>
      <vt:lpstr>Playfair Display</vt:lpstr>
      <vt:lpstr>Lato</vt:lpstr>
      <vt:lpstr>Microsoft YaHei</vt:lpstr>
      <vt:lpstr>Arial Unicode MS</vt:lpstr>
      <vt:lpstr>Times New Roman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norsa</cp:lastModifiedBy>
  <cp:revision>43</cp:revision>
  <dcterms:created xsi:type="dcterms:W3CDTF">2026-05-11T14:51:58Z</dcterms:created>
  <dcterms:modified xsi:type="dcterms:W3CDTF">2026-05-11T18:05:53Z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1033-12.1.0.25830</vt:lpwstr>
  </property>
  <property fmtid="{D5CDD505-2E9C-101B-9397-08002B2CF9AE}" pid="3" name="ICV">
    <vt:lpwstr>245AB981CBB348968AA15BB821E59574_13</vt:lpwstr>
  </property>
</Properties>
</file>